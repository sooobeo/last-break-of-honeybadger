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slides/charts/chart3.xml" ContentType="application/vnd.openxmlformats-officedocument.drawingml.chart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0f2dea9f5be4623" /><Relationship Type="http://schemas.openxmlformats.org/officeDocument/2006/relationships/extended-properties" Target="/docProps/app.xml" Id="R9fbe68ba51334b62" /><Relationship Type="http://schemas.openxmlformats.org/officeDocument/2006/relationships/officeDocument" Target="/ppt/presentation.xml" Id="R83b7b2b5ef2a477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202244453064101"/>
  </p:sldMasterIdLst>
  <p:notesMasterIdLst>
    <p:notesMasterId xmlns:r="http://schemas.openxmlformats.org/officeDocument/2006/relationships" r:id="Ra3b61837239a4a1e"/>
  </p:notesMasterIdLst>
  <p:sldIdLst>
    <p:sldId xmlns:r="http://schemas.openxmlformats.org/officeDocument/2006/relationships" id="256" r:id="Rcb5ee3cf41334289"/>
  </p:sldIdLst>
  <p:sldSz cx="10696575" cy="1511617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d6f4bf0ed2d4e8a" /><Relationship Type="http://schemas.openxmlformats.org/officeDocument/2006/relationships/slideMaster" Target="/ppt/slideMasters/slideMaster1.xml" Id="R7202244453064101" /><Relationship Type="http://schemas.openxmlformats.org/officeDocument/2006/relationships/notesMaster" Target="/ppt/notesMasters/notesMaster1.xml" Id="Ra3b61837239a4a1e" /><Relationship Type="http://schemas.openxmlformats.org/officeDocument/2006/relationships/presProps" Target="/ppt/presProps.xml" Id="R44e1130ee6bf4e82" /><Relationship Type="http://schemas.openxmlformats.org/officeDocument/2006/relationships/tableStyles" Target="/ppt/tableStyles.xml" Id="R36de9091dcec4b1a" /><Relationship Type="http://schemas.openxmlformats.org/officeDocument/2006/relationships/slide" Target="/ppt/slides/slide1.xml" Id="Rcb5ee3cf4133428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3338cae9000404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e36fb199d1f4585" /><Relationship Type="http://schemas.openxmlformats.org/officeDocument/2006/relationships/notesMaster" Target="/ppt/notesMasters/notesMaster1.xml" Id="Rc0c661b6a7de429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price data: C:\Users\Insun\Last-break-of-Honeybadger\etf_price.csv</a:t>
            </a:r>
          </a:p>
          <a:p xmlns:a="http://schemas.openxmlformats.org/drawingml/2006/main">
            <a:r>
              <a:t>- Asset return summary: C:\Users\Insun\Last-break-of-Honeybadger\outputs\week4\week4_return_summary.csv</a:t>
            </a:r>
          </a:p>
          <a:p xmlns:a="http://schemas.openxmlformats.org/drawingml/2006/main">
            <a:r>
              <a:t>- Asset risk summary: C:\Users\Insun\Last-break-of-Honeybadger\outputs\week5\week5_risk_summary.csv</a:t>
            </a:r>
          </a:p>
          <a:p xmlns:a="http://schemas.openxmlformats.org/drawingml/2006/main">
            <a:r>
              <a:t>- Manual strategy summary: C:\Users\Insun\Last-break-of-Honeybadger\outputs\week6\week6_strategy_summary.csv</a:t>
            </a:r>
          </a:p>
          <a:p xmlns:a="http://schemas.openxmlformats.org/drawingml/2006/main">
            <a:r>
              <a:t>- Monte Carlo simulations and optimal portfolios: C:\Users\Insun\Last-break-of-Honeybadger\outputs\week7</a:t>
            </a:r>
          </a:p>
          <a:p xmlns:a="http://schemas.openxmlformats.org/drawingml/2006/main">
            <a:r>
              <a:t>- Final strategy summary and recommendations: C:\Users\Insun\Last-break-of-Honeybadger\outputs\week8</a:t>
            </a:r>
          </a:p>
          <a:p xmlns:a="http://schemas.openxmlformats.org/drawingml/2006/main">
            <a:r>
              <a:t>- Efficient frontier image: C:\Users\Insun\Last-break-of-Honeybadger\outputs\week7\efficient_frontier.png</a:t>
            </a:r>
          </a:p>
          <a:p xmlns:a="http://schemas.openxmlformats.org/drawingml/2006/main">
            <a:r>
              <a:t>- Underlying market-data source recorded by the project: Yahoo Finance via yfinance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d92207064114f7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149d33df0034ea3" /><Relationship Type="http://schemas.openxmlformats.org/officeDocument/2006/relationships/slideLayout" Target="/ppt/slideLayouts/slideLayout1.xml" Id="Re8bb38b830b9466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8bb38b830b9466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d4b225680f4b41" /><Relationship Type="http://schemas.openxmlformats.org/officeDocument/2006/relationships/chart" Target="/ppt/slides/charts/chart1.xml" Id="Rf8efe5dc38824344" /><Relationship Type="http://schemas.openxmlformats.org/officeDocument/2006/relationships/chart" Target="/ppt/slides/charts/chart2.xml" Id="R37f0aacf65bd4447" /><Relationship Type="http://schemas.openxmlformats.org/officeDocument/2006/relationships/chart" Target="/ppt/slides/charts/chart3.xml" Id="Ra70c59bb1cb14e70" /><Relationship Type="http://schemas.openxmlformats.org/officeDocument/2006/relationships/notesSlide" Target="/ppt/notesSlides/notesSlide1.xml" Id="R07c6f16742d04a81" /></Relationships>
</file>

<file path=ppt/slides/charts/chart1.xml><?xml version="1.0" encoding="utf-8"?>
<c:chartSpace xmlns:c="http://schemas.openxmlformats.org/drawingml/2006/chart">
  <c:lang val="en-US"/>
  <c:chart>
    <c:plotArea>
      <c:scatterChart>
        <c:scatterStyle val="marker"/>
        <c:varyColors val="1"/>
        <c:ser>
          <c:idx val="0"/>
          <c:order val="0"/>
          <c:tx>
            <c:v>Strategy A</c:v>
          </c:tx>
          <c:spPr>
            <a:solidFill xmlns:a="http://schemas.openxmlformats.org/drawingml/2006/main">
              <a:srgbClr val="4E79A7"/>
            </a:solidFill>
          </c:spPr>
          <c:marker>
            <c:symbol val="circle"/>
            <c:size val="12"/>
          </c:marker>
          <c:xVal>
            <c:numLit>
              <c:formatCode>General</c:formatCode>
              <c:ptCount val="1"/>
              <c:pt idx="0">
                <c:v>35.12</c:v>
              </c:pt>
            </c:numLit>
          </c:xVal>
          <c:yVal>
            <c:numLit>
              <c:formatCode>0</c:formatCode>
              <c:ptCount val="1"/>
              <c:pt idx="0">
                <c:v>441.24</c:v>
              </c:pt>
            </c:numLit>
          </c:yVal>
        </c:ser>
        <c:ser>
          <c:idx val="1"/>
          <c:order val="1"/>
          <c:tx>
            <c:v>Strategy B</c:v>
          </c:tx>
          <c:spPr>
            <a:solidFill xmlns:a="http://schemas.openxmlformats.org/drawingml/2006/main">
              <a:srgbClr val="F28E2B"/>
            </a:solidFill>
          </c:spPr>
          <c:marker>
            <c:symbol val="circle"/>
            <c:size val="12"/>
          </c:marker>
          <c:xVal>
            <c:numLit>
              <c:formatCode>General</c:formatCode>
              <c:ptCount val="1"/>
              <c:pt idx="0">
                <c:v>30.86</c:v>
              </c:pt>
            </c:numLit>
          </c:xVal>
          <c:yVal>
            <c:numLit>
              <c:formatCode>0</c:formatCode>
              <c:ptCount val="1"/>
              <c:pt idx="0">
                <c:v>333.37</c:v>
              </c:pt>
            </c:numLit>
          </c:yVal>
        </c:ser>
        <c:ser>
          <c:idx val="2"/>
          <c:order val="2"/>
          <c:tx>
            <c:v>Strategy C</c:v>
          </c:tx>
          <c:spPr>
            <a:solidFill xmlns:a="http://schemas.openxmlformats.org/drawingml/2006/main">
              <a:srgbClr val="59A14F"/>
            </a:solidFill>
          </c:spPr>
          <c:marker>
            <c:symbol val="circle"/>
            <c:size val="12"/>
          </c:marker>
          <c:xVal>
            <c:numLit>
              <c:formatCode>General</c:formatCode>
              <c:ptCount val="1"/>
              <c:pt idx="0">
                <c:v>27.24</c:v>
              </c:pt>
            </c:numLit>
          </c:xVal>
          <c:yVal>
            <c:numLit>
              <c:formatCode>0</c:formatCode>
              <c:ptCount val="1"/>
              <c:pt idx="0">
                <c:v>115.32</c:v>
              </c:pt>
            </c:numLit>
          </c:yVal>
        </c:ser>
        <c:ser>
          <c:idx val="3"/>
          <c:order val="3"/>
          <c:tx>
            <c:v>Max Sharpe</c:v>
          </c:tx>
          <c:spPr>
            <a:solidFill xmlns:a="http://schemas.openxmlformats.org/drawingml/2006/main">
              <a:srgbClr val="E15759"/>
            </a:solidFill>
          </c:spPr>
          <c:marker>
            <c:symbol val="diamond"/>
            <c:size val="10"/>
          </c:marker>
          <c:xVal>
            <c:numLit>
              <c:formatCode>General</c:formatCode>
              <c:ptCount val="1"/>
              <c:pt idx="0">
                <c:v>35.07</c:v>
              </c:pt>
            </c:numLit>
          </c:xVal>
          <c:yVal>
            <c:numLit>
              <c:formatCode>0</c:formatCode>
              <c:ptCount val="1"/>
              <c:pt idx="0">
                <c:v>434.05</c:v>
              </c:pt>
            </c:numLit>
          </c:yVal>
        </c:ser>
        <c:ser>
          <c:idx val="4"/>
          <c:order val="4"/>
          <c:tx>
            <c:v>Min Volatility</c:v>
          </c:tx>
          <c:spPr>
            <a:solidFill xmlns:a="http://schemas.openxmlformats.org/drawingml/2006/main">
              <a:srgbClr val="8F6AAE"/>
            </a:solidFill>
          </c:spPr>
          <c:marker>
            <c:symbol val="diamond"/>
            <c:size val="11"/>
          </c:marker>
          <c:xVal>
            <c:numLit>
              <c:formatCode>General</c:formatCode>
              <c:ptCount val="1"/>
              <c:pt idx="0">
                <c:v>29.2</c:v>
              </c:pt>
            </c:numLit>
          </c:xVal>
          <c:yVal>
            <c:numLit>
              <c:formatCode>0</c:formatCode>
              <c:ptCount val="1"/>
              <c:pt idx="0">
                <c:v>75.64</c:v>
              </c:pt>
            </c:numLit>
          </c:yVal>
        </c:ser>
        <c:axId val="48650112"/>
        <c:axId val="48672768"/>
      </c:scatterChart>
      <c:valAx>
        <c:axId val="48672768"/>
        <c:scaling>
          <c:orientation val="minMax"/>
          <c:max val="470"/>
          <c:min val="5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DEE5"/>
              </a:solidFill>
              <a:prstDash val="solid"/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8DEE5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52606D"/>
                </a:solidFill>
              </a:defRPr>
            </a:pPr>
          </a:p>
        </c:txPr>
        <c:crossAx val="48650112"/>
        <c:majorUnit val="100"/>
      </c:valAx>
      <c:valAx>
        <c:axId val="48650112"/>
        <c:scaling>
          <c:orientation val="minMax"/>
          <c:max val="37"/>
          <c:min val="25"/>
        </c:scaling>
        <c:delete val="0"/>
        <c:axPos val="b"/>
        <c:majorGridlines>
          <c:spPr>
            <a:ln xmlns:a="http://schemas.openxmlformats.org/drawingml/2006/main" w="9525">
              <a:solidFill>
                <a:srgbClr val="D8DEE5"/>
              </a:solidFill>
              <a:prstDash val="solid"/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8DEE5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52606D"/>
                </a:solidFill>
              </a:defRPr>
            </a:pPr>
          </a:p>
        </c:txPr>
        <c:crossAx val="48672768"/>
        <c:majorUnit val="2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  <a:prstDash val="solid"/>
        </a:ln>
      </c:spPr>
    </c:plotArea>
    <c:legend>
      <c:legendPos val="t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750">
              <a:solidFill>
                <a:srgbClr val="52606D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9525">
      <a:solidFill>
        <a:srgbClr val="D9E2EC"/>
      </a:solidFill>
      <a:prstDash val="solid"/>
    </a:ln>
  </c:spPr>
</c:chartSpace>
</file>

<file path=ppt/slides/charts/chart2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1"/>
        <c:ser>
          <c:idx val="0"/>
          <c:order val="0"/>
          <c:tx>
            <c:v>변화폭</c:v>
          </c:tx>
          <c:spPr>
            <a:solidFill xmlns:a="http://schemas.openxmlformats.org/drawingml/2006/main">
              <a:srgbClr val="F28E2B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F28E2B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2A7F80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2A7F80"/>
              </a:solidFill>
            </c:spPr>
          </c:dPt>
          <c:cat>
            <c:strLit>
              <c:ptCount val="3"/>
              <c:pt idx="0">
                <c:v>수익 비용</c:v>
              </c:pt>
              <c:pt idx="1">
                <c:v>변동성 감소</c:v>
              </c:pt>
              <c:pt idx="2">
                <c:v>MDD 개선</c:v>
              </c:pt>
            </c:strLit>
          </c:cat>
          <c:val>
            <c:numLit>
              <c:formatCode>0.00</c:formatCode>
              <c:ptCount val="3"/>
              <c:pt idx="0">
                <c:v>2.73</c:v>
              </c:pt>
              <c:pt idx="1">
                <c:v>2.45</c:v>
              </c:pt>
              <c:pt idx="2">
                <c:v>4.26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 b="1">
                  <a:solidFill>
                    <a:srgbClr val="1F2933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8DEE5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1F2933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ax val="5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DEE5"/>
              </a:solidFill>
              <a:prstDash val="solid"/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8DEE5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675">
                <a:solidFill>
                  <a:srgbClr val="52606D"/>
                </a:solidFill>
              </a:defRPr>
            </a:pPr>
          </a:p>
        </c:txPr>
        <c:crossAx val="48650112"/>
        <c:crossBetween val="between"/>
        <c:majorUnit val="1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9525">
      <a:solidFill>
        <a:srgbClr val="D9E2EC"/>
      </a:solidFill>
      <a:prstDash val="solid"/>
    </a:ln>
  </c:spPr>
</c:chartSpace>
</file>

<file path=ppt/slides/charts/chart3.xml><?xml version="1.0" encoding="utf-8"?>
<c:chartSpace xmlns:c="http://schemas.openxmlformats.org/drawingml/2006/chart">
  <c:lang val="en-US"/>
  <c:chart>
    <c:plotArea>
      <c:barChart>
        <c:barDir val="col"/>
        <c:grouping val="stacked"/>
        <c:varyColors val="0"/>
        <c:ser>
          <c:idx val="0"/>
          <c:order val="0"/>
          <c:tx>
            <c:v>SPY</c:v>
          </c:tx>
          <c:spPr>
            <a:solidFill xmlns:a="http://schemas.openxmlformats.org/drawingml/2006/main">
              <a:srgbClr val="4E79A7"/>
            </a:solidFill>
          </c:spPr>
          <c:cat>
            <c:strLit>
              <c:ptCount val="2"/>
              <c:pt idx="0">
                <c:v>Max Sharpe</c:v>
              </c:pt>
              <c:pt idx="1">
                <c:v>Min Volatility</c:v>
              </c:pt>
            </c:strLit>
          </c:cat>
          <c:val>
            <c:numLit>
              <c:formatCode>0%</c:formatCode>
              <c:ptCount val="2"/>
              <c:pt idx="0">
                <c:v>0.0007</c:v>
              </c:pt>
              <c:pt idx="1">
                <c:v>0.445</c:v>
              </c:pt>
            </c:numLit>
          </c:val>
        </c:ser>
        <c:ser>
          <c:idx val="1"/>
          <c:order val="1"/>
          <c:tx>
            <c:v>QQQ</c:v>
          </c:tx>
          <c:spPr>
            <a:solidFill xmlns:a="http://schemas.openxmlformats.org/drawingml/2006/main">
              <a:srgbClr val="F28E2B"/>
            </a:solidFill>
          </c:spPr>
          <c:cat>
            <c:strLit>
              <c:ptCount val="2"/>
              <c:pt idx="0">
                <c:v>Max Sharpe</c:v>
              </c:pt>
              <c:pt idx="1">
                <c:v>Min Volatility</c:v>
              </c:pt>
            </c:strLit>
          </c:cat>
          <c:val>
            <c:numLit>
              <c:formatCode>0%</c:formatCode>
              <c:ptCount val="2"/>
              <c:pt idx="0">
                <c:v>0.99</c:v>
              </c:pt>
              <c:pt idx="1">
                <c:v>0.0014</c:v>
              </c:pt>
            </c:numLit>
          </c:val>
        </c:ser>
        <c:ser>
          <c:idx val="2"/>
          <c:order val="2"/>
          <c:tx>
            <c:v>TLT</c:v>
          </c:tx>
          <c:spPr>
            <a:solidFill xmlns:a="http://schemas.openxmlformats.org/drawingml/2006/main">
              <a:srgbClr val="59A14F"/>
            </a:solidFill>
          </c:spPr>
          <c:cat>
            <c:strLit>
              <c:ptCount val="2"/>
              <c:pt idx="0">
                <c:v>Max Sharpe</c:v>
              </c:pt>
              <c:pt idx="1">
                <c:v>Min Volatility</c:v>
              </c:pt>
            </c:strLit>
          </c:cat>
          <c:val>
            <c:numLit>
              <c:formatCode>0%</c:formatCode>
              <c:ptCount val="2"/>
              <c:pt idx="0">
                <c:v>0.0093</c:v>
              </c:pt>
              <c:pt idx="1">
                <c:v>0.5535</c:v>
              </c:pt>
            </c:numLit>
          </c:val>
        </c:ser>
        <c:gapWidth val="42"/>
        <c:overlap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8DEE5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1F2933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DEE5"/>
              </a:solidFill>
              <a:prstDash val="solid"/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8DEE5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675">
                <a:solidFill>
                  <a:srgbClr val="52606D"/>
                </a:solidFill>
              </a:defRPr>
            </a:pPr>
          </a:p>
        </c:txPr>
        <c:crossAx val="48650112"/>
        <c:crossBetween val="between"/>
        <c:majorUnit val="0.25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  <a:prstDash val="solid"/>
        </a:ln>
      </c:spPr>
    </c:plotArea>
    <c:legend>
      <c:legendPos val="t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825">
              <a:solidFill>
                <a:srgbClr val="52606D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9525">
      <a:solidFill>
        <a:srgbClr val="D9E2EC"/>
      </a:solidFill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7" name="header-band">
            <a:extLst xmlns:a="http://schemas.openxmlformats.org/drawingml/2006/main">
              <a:ext uri="{FF2B5EF4-FFF2-40B4-BE49-F238E27FC236}">
                <a16:creationId xmlns:a16="http://schemas.microsoft.com/office/drawing/2014/main" id="{2BCFB100-2CFC-4B63-ABD3-F4784ACBB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696575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solidFill>
              <a:srgbClr val="102A43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BB0D6B-3E02-4374-B0AB-C1B2E856A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43025"/>
            <a:ext cx="10696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E2B"/>
          </a:solidFill>
          <a:ln xmlns:a="http://schemas.openxmlformats.org/drawingml/2006/main" w="0">
            <a:solidFill>
              <a:srgbClr val="F28E2B"/>
            </a:solidFill>
            <a:prstDash val="solid"/>
          </a:ln>
        </p:spPr>
      </p:sp>
      <p:sp>
        <p:nvSpPr>
          <p:cNvPr id="3" name="poster-title">
            <a:extLst xmlns:a="http://schemas.openxmlformats.org/drawingml/2006/main">
              <a:ext uri="{FF2B5EF4-FFF2-40B4-BE49-F238E27FC236}">
                <a16:creationId xmlns:a16="http://schemas.microsoft.com/office/drawing/2014/main" id="{917FC4D3-EA4D-4988-902C-C692E0E30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"/>
            <a:ext cx="6810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37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벌꿀오소리의 마지막 브레이크</a:t>
            </a:r>
          </a:p>
        </p:txBody>
      </p:sp>
      <p:sp>
        <p:nvSpPr>
          <p:cNvPr id="4" name="poster-subtitle">
            <a:extLst xmlns:a="http://schemas.openxmlformats.org/drawingml/2006/main">
              <a:ext uri="{FF2B5EF4-FFF2-40B4-BE49-F238E27FC236}">
                <a16:creationId xmlns:a16="http://schemas.microsoft.com/office/drawing/2014/main" id="{2563A466-865B-403C-9DFE-82A3057EC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866775"/>
            <a:ext cx="6858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D9E2EC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D9E2EC"/>
                </a:solidFill>
                <a:latin typeface="Noto Sans KR"/>
                <a:ea typeface="Noto Sans KR"/>
                <a:cs typeface="Noto Sans KR"/>
              </a:rPr>
              <a:t>공격적으로 투자하기 전, SPY·QQQ·TLT로 확인한 수익–위험의 마지막 점검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BFC661-FC5D-443A-8EEF-C5889A2D0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38125"/>
            <a:ext cx="476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E2B"/>
          </a:solidFill>
          <a:ln xmlns:a="http://schemas.openxmlformats.org/drawingml/2006/main" w="0">
            <a:solidFill>
              <a:srgbClr val="F28E2B"/>
            </a:solidFill>
            <a:prstDash val="solid"/>
          </a:ln>
        </p:spPr>
      </p:sp>
      <p:sp>
        <p:nvSpPr>
          <p:cNvPr id="6" name="research-question-header">
            <a:extLst xmlns:a="http://schemas.openxmlformats.org/drawingml/2006/main">
              <a:ext uri="{FF2B5EF4-FFF2-40B4-BE49-F238E27FC236}">
                <a16:creationId xmlns:a16="http://schemas.microsoft.com/office/drawing/2014/main" id="{07AC6DF4-C1AC-4E92-BBFA-DA0666313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228600"/>
            <a:ext cx="2466975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4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연구 질문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4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분산에 지불한 수익의 비용은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4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실제 손실 감소로 돌아왔는가?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3AEF04-93AF-4810-B29C-49F39A2FC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00200"/>
            <a:ext cx="989647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2A43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102A43"/>
                </a:solidFill>
                <a:latin typeface="Noto Sans KR"/>
                <a:ea typeface="Noto Sans KR"/>
                <a:cs typeface="Noto Sans KR"/>
              </a:rPr>
              <a:t>어떤 자산이 가장 많이 올랐는지가 아니라, 무엇을 포기해 어떤 위험을 줄였는지를 물었다.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E03A0C-2D58-4C39-BABE-4690C952C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47875"/>
            <a:ext cx="98964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solidFill>
              <a:srgbClr val="D9E2E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ABB793-AC2E-45D0-BAC7-38E0D5E28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00275"/>
            <a:ext cx="64579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1F2933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1F2933"/>
                </a:solidFill>
                <a:latin typeface="Noto Sans KR"/>
                <a:ea typeface="Noto Sans KR"/>
                <a:cs typeface="Noto Sans KR"/>
              </a:rPr>
              <a:t>QQQ가 최고 수익을 냈다는 사실만으로는 투자 결정을 설명할 수 없다. 집중도를 낮출 때 포기한 수익, 줄어든 변동성, 실제 고점 대비 손실(MDD)을 함께 계산해야 분산의 가치가 보인다. 본 연구는 수동 전략과 최적화 결과를 같은 기준에 놓고 ‘수익 1등’과 ‘감내 가능한 선택’이 일치하는지 검토했다.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395814-73ED-455E-9E93-FDD23959F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181225"/>
            <a:ext cx="310515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995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050" b="0">
                <a:solidFill>
                  <a:srgbClr val="1F2933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1F2933"/>
                </a:solidFill>
                <a:latin typeface="Noto Sans KR"/>
                <a:ea typeface="Noto Sans KR"/>
                <a:cs typeface="Noto Sans KR"/>
              </a:rPr>
              <a:t>분석 설계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050" b="0">
                <a:solidFill>
                  <a:srgbClr val="1F2933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1F2933"/>
                </a:solidFill>
                <a:latin typeface="Noto Sans KR"/>
                <a:ea typeface="Noto Sans KR"/>
                <a:cs typeface="Noto Sans KR"/>
              </a:rPr>
              <a:t>SPY · QQQ · TLT  |  2015.01.02–2024.12.30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050" b="0">
                <a:solidFill>
                  <a:srgbClr val="1F2933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1F2933"/>
                </a:solidFill>
                <a:latin typeface="Noto Sans KR"/>
                <a:ea typeface="Noto Sans KR"/>
                <a:cs typeface="Noto Sans KR"/>
              </a:rPr>
              <a:t>2,515거래일 · 연율화 252일 · 무위험수익률 3%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050" b="0">
                <a:solidFill>
                  <a:srgbClr val="1F2933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1F2933"/>
                </a:solidFill>
                <a:latin typeface="Noto Sans KR"/>
                <a:ea typeface="Noto Sans KR"/>
                <a:cs typeface="Noto Sans KR"/>
              </a:rPr>
              <a:t>공매도 없음 · 수동전략 3개 · Monte Carlo 10,000개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050" b="0">
                <a:solidFill>
                  <a:srgbClr val="1F2933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1F2933"/>
                </a:solidFill>
                <a:latin typeface="Noto Sans KR"/>
                <a:ea typeface="Noto Sans KR"/>
                <a:cs typeface="Noto Sans KR"/>
              </a:rPr>
              <a:t>지표  연율·누적수익률 / 변동성 / MDD / Sharpe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D49DFC-C2B0-4BDC-9E71-441DF5FA8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95650"/>
            <a:ext cx="66675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E2B"/>
          </a:solidFill>
          <a:ln xmlns:a="http://schemas.openxmlformats.org/drawingml/2006/main" w="0">
            <a:solidFill>
              <a:srgbClr val="F28E2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1D1474-1D08-4117-A378-737F7CCFA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67075"/>
            <a:ext cx="97250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2A43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1">
                <a:solidFill>
                  <a:srgbClr val="102A43"/>
                </a:solidFill>
                <a:latin typeface="Noto Sans KR"/>
                <a:ea typeface="Noto Sans KR"/>
                <a:cs typeface="Noto Sans KR"/>
              </a:rPr>
              <a:t>01. 핵심 결과: ‘최소 변동성’은 ‘최소 손실’이 아니었다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622CBD-DA4A-428E-B426-23DA015B4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05225"/>
            <a:ext cx="6648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2606D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52606D"/>
                </a:solidFill>
                <a:latin typeface="Noto Sans KR"/>
                <a:ea typeface="Noto Sans KR"/>
                <a:cs typeface="Noto Sans KR"/>
              </a:rPr>
              <a:t>누적수익률–최대낙폭 지도  |  왼쪽 위일수록 높은 수익과 작은 낙폭</a:t>
            </a:r>
          </a:p>
        </p:txBody>
      </p:sp>
      <p:graphicFrame>
        <p:nvGraphicFramePr>
          <p:cNvPr id="70" name="Chart"/>
          <p:cNvGraphicFramePr/>
          <p:nvPr/>
        </p:nvGraphicFramePr>
        <p:xfrm>
          <a:off xmlns:a="http://schemas.openxmlformats.org/drawingml/2006/main" x="400050" y="3981450"/>
          <a:ext xmlns:a="http://schemas.openxmlformats.org/drawingml/2006/main" cx="6648450" cy="31146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8efe5dc38824344"/>
          </a:graphicData>
        </a:graphic>
      </p:graphicFrame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E1181D0-9364-44C3-ADB3-17A4B27AB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6886575"/>
            <a:ext cx="21907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52606D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0">
                <a:solidFill>
                  <a:srgbClr val="52606D"/>
                </a:solidFill>
                <a:latin typeface="Noto Sans KR"/>
                <a:ea typeface="Noto Sans KR"/>
                <a:cs typeface="Noto Sans KR"/>
              </a:rPr>
              <a:t>최대낙폭의 절대값 (%) 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7E74E8C-2A30-4EF6-9D18-C30293B63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4295775"/>
            <a:ext cx="1381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E15759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E15759"/>
                </a:solidFill>
                <a:latin typeface="Noto Sans KR"/>
                <a:ea typeface="Noto Sans KR"/>
                <a:cs typeface="Noto Sans KR"/>
              </a:rPr>
              <a:t>A / Max Sharpe</a:t>
            </a:r>
          </a:p>
          <a:p xmlns:a="http://schemas.openxmlformats.org/drawingml/2006/main">
            <a:pPr algn="ctr">
              <a:defRPr sz="825" b="1">
                <a:solidFill>
                  <a:srgbClr val="E15759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E15759"/>
                </a:solidFill>
                <a:latin typeface="Noto Sans KR"/>
                <a:ea typeface="Noto Sans KR"/>
                <a:cs typeface="Noto Sans KR"/>
              </a:rPr>
              <a:t>높은 수익, 약 35% 낙폭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33899E1-BA0A-48CA-82EA-B42B92E59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5010150"/>
            <a:ext cx="1504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28E2B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F28E2B"/>
                </a:solidFill>
                <a:latin typeface="Noto Sans KR"/>
                <a:ea typeface="Noto Sans KR"/>
                <a:cs typeface="Noto Sans KR"/>
              </a:rPr>
              <a:t>B</a:t>
            </a:r>
          </a:p>
          <a:p xmlns:a="http://schemas.openxmlformats.org/drawingml/2006/main">
            <a:pPr algn="ctr">
              <a:defRPr sz="825" b="1">
                <a:solidFill>
                  <a:srgbClr val="F28E2B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F28E2B"/>
                </a:solidFill>
                <a:latin typeface="Noto Sans KR"/>
                <a:ea typeface="Noto Sans KR"/>
                <a:cs typeface="Noto Sans KR"/>
              </a:rPr>
              <a:t>333.37% · MDD −30.86%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FFFB0D5-6BB5-4997-80AD-7734C5565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6153150"/>
            <a:ext cx="1543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59A14F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59A14F"/>
                </a:solidFill>
                <a:latin typeface="Noto Sans KR"/>
                <a:ea typeface="Noto Sans KR"/>
                <a:cs typeface="Noto Sans KR"/>
              </a:rPr>
              <a:t>C</a:t>
            </a:r>
          </a:p>
          <a:p xmlns:a="http://schemas.openxmlformats.org/drawingml/2006/main">
            <a:pPr algn="ctr">
              <a:defRPr sz="825" b="1">
                <a:solidFill>
                  <a:srgbClr val="59A14F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59A14F"/>
                </a:solidFill>
                <a:latin typeface="Noto Sans KR"/>
                <a:ea typeface="Noto Sans KR"/>
                <a:cs typeface="Noto Sans KR"/>
              </a:rPr>
              <a:t>115.32% · MDD −27.24%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4F3DD06-2F3A-4D57-BFD9-D2327BA0C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6486525"/>
            <a:ext cx="1524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8F6AAE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8F6AAE"/>
                </a:solidFill>
                <a:latin typeface="Noto Sans KR"/>
                <a:ea typeface="Noto Sans KR"/>
                <a:cs typeface="Noto Sans KR"/>
              </a:rPr>
              <a:t>Min Vol.</a:t>
            </a:r>
          </a:p>
          <a:p xmlns:a="http://schemas.openxmlformats.org/drawingml/2006/main">
            <a:pPr algn="ctr">
              <a:defRPr sz="825" b="1">
                <a:solidFill>
                  <a:srgbClr val="8F6AAE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8F6AAE"/>
                </a:solidFill>
                <a:latin typeface="Noto Sans KR"/>
                <a:ea typeface="Noto Sans KR"/>
                <a:cs typeface="Noto Sans KR"/>
              </a:rPr>
              <a:t>75.64% · MDD −29.20%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5242021-BD33-48A1-88B9-F43C21C7F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705225"/>
            <a:ext cx="3000375" cy="3390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EAB6A08-5BAC-45F9-BCB8-547653A82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905250"/>
            <a:ext cx="3810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E2B"/>
          </a:solidFill>
          <a:ln xmlns:a="http://schemas.openxmlformats.org/drawingml/2006/main" w="0">
            <a:solidFill>
              <a:srgbClr val="F28E2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6684F85-13C9-46FE-B679-40FA30FD0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876675"/>
            <a:ext cx="25431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A43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102A43"/>
                </a:solidFill>
                <a:latin typeface="Noto Sans KR"/>
                <a:ea typeface="Noto Sans KR"/>
                <a:cs typeface="Noto Sans KR"/>
              </a:rPr>
              <a:t>그래프가 말하는 핵심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A45118D-DF08-44B2-A0C7-20F16AD7E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257675"/>
            <a:ext cx="2657475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243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125" b="0">
                <a:solidFill>
                  <a:srgbClr val="1F293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1F2933"/>
                </a:solidFill>
                <a:latin typeface="Noto Sans KR"/>
                <a:ea typeface="Noto Sans KR"/>
                <a:cs typeface="Noto Sans KR"/>
              </a:rPr>
              <a:t>1  C는 Min Volatility보다 변동성이 0.76%p 높다. 하지만 누적수익률은 39.68%p 높고 MDD는 1.96%p 얕았다.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7000"/>
              </a:lnSpc>
              <a:buNone/>
              <a:defRPr sz="1125" b="0">
                <a:solidFill>
                  <a:srgbClr val="1F293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1F2933"/>
                </a:solidFill>
                <a:latin typeface="Noto Sans KR"/>
                <a:ea typeface="Noto Sans KR"/>
                <a:cs typeface="Noto Sans KR"/>
              </a:rPr>
              <a:t>2  즉 ‘일별 흔들림’을 가장 작게 만든 포트폴리오가 ‘실제 최대 손실’까지 가장 작게 만들지는 않았다.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7000"/>
              </a:lnSpc>
              <a:buNone/>
              <a:defRPr sz="1125" b="0">
                <a:solidFill>
                  <a:srgbClr val="1F293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1F2933"/>
                </a:solidFill>
                <a:latin typeface="Noto Sans KR"/>
                <a:ea typeface="Noto Sans KR"/>
                <a:cs typeface="Noto Sans KR"/>
              </a:rPr>
              <a:t>3  A와 Max Sharpe는 거의 같은 위치에 겹친다. 최적화는 새로운 분산 해법보다 분석 기간의 승자였던 QQQ 집중을 재현했다.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7000"/>
              </a:lnSpc>
              <a:buNone/>
              <a:defRPr sz="1125" b="0">
                <a:solidFill>
                  <a:srgbClr val="1F293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1F2933"/>
                </a:solidFill>
                <a:latin typeface="Noto Sans KR"/>
                <a:ea typeface="Noto Sans KR"/>
                <a:cs typeface="Noto Sans KR"/>
              </a:rPr>
              <a:t>4  왼쪽 위의 완벽한 전략은 없었다. 선택은 최고점이 아니라 수익과 손실 사이의 교환조건을 정하는 문제다.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8AA73B8-A9AA-47F2-A1CD-F73FC4352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6543675"/>
            <a:ext cx="26574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9D5"/>
          </a:solidFill>
          <a:ln xmlns:a="http://schemas.openxmlformats.org/drawingml/2006/main" w="0">
            <a:solidFill>
              <a:srgbClr val="FCE9D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BD2962D-8AC4-424D-B7BC-30C86FD95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425" y="6619875"/>
            <a:ext cx="24098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0555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A4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102A43"/>
                </a:solidFill>
                <a:latin typeface="Noto Sans KR"/>
                <a:ea typeface="Noto Sans KR"/>
                <a:cs typeface="Noto Sans KR"/>
              </a:rPr>
              <a:t>차별적 결론</a:t>
            </a:r>
          </a:p>
          <a:p xmlns:a="http://schemas.openxmlformats.org/drawingml/2006/main">
            <a:pPr algn="ctr">
              <a:defRPr sz="1125" b="1">
                <a:solidFill>
                  <a:srgbClr val="102A4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102A43"/>
                </a:solidFill>
                <a:latin typeface="Noto Sans KR"/>
                <a:ea typeface="Noto Sans KR"/>
                <a:cs typeface="Noto Sans KR"/>
              </a:rPr>
              <a:t>변동성 최소화 ≠ 손실 최소화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67E457A-578B-4A45-B0DF-11DC854AB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410450"/>
            <a:ext cx="66675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E2B"/>
          </a:solidFill>
          <a:ln xmlns:a="http://schemas.openxmlformats.org/drawingml/2006/main" w="0">
            <a:solidFill>
              <a:srgbClr val="F28E2B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A262A2D-24ED-4FCB-BCDB-A8D69C4E6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381875"/>
            <a:ext cx="97250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2A43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1">
                <a:solidFill>
                  <a:srgbClr val="102A43"/>
                </a:solidFill>
                <a:latin typeface="Noto Sans KR"/>
                <a:ea typeface="Noto Sans KR"/>
                <a:cs typeface="Noto Sans KR"/>
              </a:rPr>
              <a:t>02. Strategy B는 분산의 효과를 ‘얼마를 지불하고 무엇을 얻었는가’로 보여준다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7640126-C37C-4819-A248-205A682EE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39075"/>
            <a:ext cx="5133975" cy="2752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12BB61B-E547-4F06-8D14-1BBEE7D0A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8010525"/>
            <a:ext cx="47339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02A43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>
                <a:solidFill>
                  <a:srgbClr val="102A43"/>
                </a:solidFill>
                <a:latin typeface="Noto Sans KR"/>
                <a:ea typeface="Noto Sans KR"/>
                <a:cs typeface="Noto Sans KR"/>
              </a:rPr>
              <a:t>QQQ 비중  100% → 50%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A1C693D-058F-4CFD-93C8-ACCD40D0E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8362950"/>
            <a:ext cx="47339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06D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52606D"/>
                </a:solidFill>
                <a:latin typeface="Noto Sans KR"/>
                <a:ea typeface="Noto Sans KR"/>
                <a:cs typeface="Noto Sans KR"/>
              </a:rPr>
              <a:t>Strategy A에서 B로 바꿨을 때 변화의 크기 (%p)</a:t>
            </a:r>
          </a:p>
        </p:txBody>
      </p:sp>
      <p:graphicFrame>
        <p:nvGraphicFramePr>
          <p:cNvPr id="87" name="Chart"/>
          <p:cNvGraphicFramePr/>
          <p:nvPr/>
        </p:nvGraphicFramePr>
        <p:xfrm>
          <a:off xmlns:a="http://schemas.openxmlformats.org/drawingml/2006/main" x="600075" y="8591550"/>
          <a:ext xmlns:a="http://schemas.openxmlformats.org/drawingml/2006/main" cx="4733925" cy="16573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7f0aacf65bd4447"/>
          </a:graphicData>
        </a:graphic>
      </p:graphicFrame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D464626-AF89-49C1-B5E1-1C54841C6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10306050"/>
            <a:ext cx="47339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52606D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0">
                <a:solidFill>
                  <a:srgbClr val="52606D"/>
                </a:solidFill>
                <a:latin typeface="Noto Sans KR"/>
                <a:ea typeface="Noto Sans KR"/>
                <a:cs typeface="Noto Sans KR"/>
              </a:rPr>
              <a:t>주황 = 포기한 수익  |  청록 = 줄인 위험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B0A5726-70C8-493B-9EAE-B64F18B9E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7839075"/>
            <a:ext cx="4524375" cy="2752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2F1"/>
          </a:solidFill>
          <a:ln xmlns:a="http://schemas.openxmlformats.org/drawingml/2006/main" w="9525">
            <a:solidFill>
              <a:srgbClr val="2A7F80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FF96319-2A75-4439-B904-DC710C852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8048625"/>
            <a:ext cx="3810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E2B"/>
          </a:solidFill>
          <a:ln xmlns:a="http://schemas.openxmlformats.org/drawingml/2006/main" w="0">
            <a:solidFill>
              <a:srgbClr val="F28E2B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28CD483-6C88-4F67-8449-D557812F0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8020050"/>
            <a:ext cx="40481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A43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102A43"/>
                </a:solidFill>
                <a:latin typeface="Noto Sans KR"/>
                <a:ea typeface="Noto Sans KR"/>
                <a:cs typeface="Noto Sans KR"/>
              </a:rPr>
              <a:t>왜 B가 프로젝트의 핵심 절충안인가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C4BAD68-CD20-4F2C-96C5-140E7D368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8420100"/>
            <a:ext cx="4162425" cy="1685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610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1F293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1F2933"/>
                </a:solidFill>
                <a:latin typeface="Noto Sans KR"/>
                <a:ea typeface="Noto Sans KR"/>
                <a:cs typeface="Noto Sans KR"/>
              </a:rPr>
              <a:t>A → B의 가격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1F293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1F2933"/>
                </a:solidFill>
                <a:latin typeface="Noto Sans KR"/>
                <a:ea typeface="Noto Sans KR"/>
                <a:cs typeface="Noto Sans KR"/>
              </a:rPr>
              <a:t>연율수익률 19.32% → 16.59%  |  −2.73%p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1F293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1F2933"/>
                </a:solidFill>
                <a:latin typeface="Noto Sans KR"/>
                <a:ea typeface="Noto Sans KR"/>
                <a:cs typeface="Noto Sans KR"/>
              </a:rPr>
              <a:t>Sharpe 0.75 → 0.70  |  −0.05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1F293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1F2933"/>
                </a:solidFill>
                <a:latin typeface="Noto Sans KR"/>
                <a:ea typeface="Noto Sans KR"/>
                <a:cs typeface="Noto Sans KR"/>
              </a:rPr>
              <a:t>A → B에서 얻은 것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1F293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1F2933"/>
                </a:solidFill>
                <a:latin typeface="Noto Sans KR"/>
                <a:ea typeface="Noto Sans KR"/>
                <a:cs typeface="Noto Sans KR"/>
              </a:rPr>
              <a:t>변동성 21.82% → 19.37%  |  −2.45%p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1F293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1F2933"/>
                </a:solidFill>
                <a:latin typeface="Noto Sans KR"/>
                <a:ea typeface="Noto Sans KR"/>
                <a:cs typeface="Noto Sans KR"/>
              </a:rPr>
              <a:t>MDD −35.12% → −30.86%  |  4.26%p 개선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1F293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1F2933"/>
                </a:solidFill>
                <a:latin typeface="Noto Sans KR"/>
                <a:ea typeface="Noto Sans KR"/>
                <a:cs typeface="Noto Sans KR"/>
              </a:rPr>
              <a:t>B는 수동 전략 중 유일하게 연율수익률 15% 이상을 유지하면서 A보다 변동성과 MDD를 모두 낮췄다. 최고 수익 전략은 아니지만, 집중 위험을 절반으로 줄이는 데 필요한 비용을 가장 명확하게 보여주는 전략이다.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D334F3B-7A40-4E93-BED3-6BF8FF24A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10201275"/>
            <a:ext cx="41624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7F80"/>
          </a:solidFill>
          <a:ln xmlns:a="http://schemas.openxmlformats.org/drawingml/2006/main" w="0">
            <a:solidFill>
              <a:srgbClr val="2A7F80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8E72B10-55CC-458C-90D9-F37FF9C91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10287000"/>
            <a:ext cx="41624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02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102A43"/>
                </a:solidFill>
                <a:latin typeface="Noto Sans KR"/>
                <a:ea typeface="Noto Sans KR"/>
                <a:cs typeface="Noto Sans KR"/>
              </a:rPr>
              <a:t>해석  분산은 공짜가 아니다. 중요한 것은 수익 감소 자체가 아니라, 그 비용으로 줄인 손실이 투자자의 감내 범위에 맞는가이다.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D8250FE-548B-4418-9038-BDF99844D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896600"/>
            <a:ext cx="66675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E2B"/>
          </a:solidFill>
          <a:ln xmlns:a="http://schemas.openxmlformats.org/drawingml/2006/main" w="0">
            <a:solidFill>
              <a:srgbClr val="F28E2B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823DF05-C230-4B4E-98C3-23163C04E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868025"/>
            <a:ext cx="97250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2A43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1">
                <a:solidFill>
                  <a:srgbClr val="102A43"/>
                </a:solidFill>
                <a:latin typeface="Noto Sans KR"/>
                <a:ea typeface="Noto Sans KR"/>
                <a:cs typeface="Noto Sans KR"/>
              </a:rPr>
              <a:t>03. 최적화가 정답을 만든 것이 아니라, 과거의 승자를 다시 선택했다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9D6A38F-7332-4654-808A-29702EEE0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306175"/>
            <a:ext cx="424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2606D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52606D"/>
                </a:solidFill>
                <a:latin typeface="Noto Sans KR"/>
                <a:ea typeface="Noto Sans KR"/>
                <a:cs typeface="Noto Sans KR"/>
              </a:rPr>
              <a:t>최적 포트폴리오의 자산 비중</a:t>
            </a:r>
          </a:p>
        </p:txBody>
      </p:sp>
      <p:graphicFrame>
        <p:nvGraphicFramePr>
          <p:cNvPr id="98" name="Chart"/>
          <p:cNvGraphicFramePr/>
          <p:nvPr/>
        </p:nvGraphicFramePr>
        <p:xfrm>
          <a:off xmlns:a="http://schemas.openxmlformats.org/drawingml/2006/main" x="400050" y="11572875"/>
          <a:ext xmlns:a="http://schemas.openxmlformats.org/drawingml/2006/main" cx="4248150" cy="19431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70c59bb1cb14e70"/>
          </a:graphicData>
        </a:graphic>
      </p:graphicFrame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E572272-8379-4ABE-8494-65723B433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2477750"/>
            <a:ext cx="1428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QQQ 99.00%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B154A67-17E6-49CC-9E38-5D4207B1D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2039600"/>
            <a:ext cx="13525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TLT 55.35%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BE8107D-2455-488C-93A3-166FA9C16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2782550"/>
            <a:ext cx="13525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SPY 44.50%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220C89B-9C25-4ABC-A71B-D5A8C4A9A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11306175"/>
            <a:ext cx="5391150" cy="2209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CC122AD-2E37-4185-AA6A-8BE7288B6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11506200"/>
            <a:ext cx="3810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E2B"/>
          </a:solidFill>
          <a:ln xmlns:a="http://schemas.openxmlformats.org/drawingml/2006/main" w="0">
            <a:solidFill>
              <a:srgbClr val="F28E2B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8AACC3B-4FBB-4960-98A6-911886851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11477625"/>
            <a:ext cx="49149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A43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102A43"/>
                </a:solidFill>
                <a:latin typeface="Noto Sans KR"/>
                <a:ea typeface="Noto Sans KR"/>
                <a:cs typeface="Noto Sans KR"/>
              </a:rPr>
              <a:t>최적화 결과를 읽는 방법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1C5D84F-D4C4-4404-99B9-00FC8C6B2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11858625"/>
            <a:ext cx="50292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504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050" b="0">
                <a:solidFill>
                  <a:srgbClr val="1F2933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1F2933"/>
                </a:solidFill>
                <a:latin typeface="Noto Sans KR"/>
                <a:ea typeface="Noto Sans KR"/>
                <a:cs typeface="Noto Sans KR"/>
              </a:rPr>
              <a:t>Max Sharpe는 QQQ 99.00%로 수렴했고, 연율수익률 19.14%, 변동성 21.60%, MDD −35.07%, Sharpe 0.75를 기록했다. Strategy A와 사실상 같은 결과다. 이는 최적화가 새로운 안전장치를 발견했다기보다 2015–2024년의 강한 QQQ 성과를 다시 선택했다는 뜻이다.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050" b="0">
                <a:solidFill>
                  <a:srgbClr val="1F2933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1F2933"/>
                </a:solidFill>
                <a:latin typeface="Noto Sans KR"/>
                <a:ea typeface="Noto Sans KR"/>
                <a:cs typeface="Noto Sans KR"/>
              </a:rPr>
              <a:t>Min Volatility는 SPY 44.50%와 TLT 55.35%를 선택해 변동성을 10.29%로 낮췄다. 그러나 MDD는 −29.20%로 Strategy C보다 깊었고 누적수익률도 75.64%로 낮았다.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050" b="0">
                <a:solidFill>
                  <a:srgbClr val="1F2933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1F2933"/>
                </a:solidFill>
                <a:latin typeface="Noto Sans KR"/>
                <a:ea typeface="Noto Sans KR"/>
                <a:cs typeface="Noto Sans KR"/>
              </a:rPr>
              <a:t>따라서 ‘최적’이라는 이름보다 먼저 무엇을 최적화했는지 확인해야 한다. 변동성만 최소화하면 MDD와 장기성과는 별도의 문제로 남는다.</a:t>
            </a:r>
          </a:p>
        </p:txBody>
      </p:sp>
      <p:sp>
        <p:nvSpPr>
          <p:cNvPr id="50" name="conclusion-band">
            <a:extLst xmlns:a="http://schemas.openxmlformats.org/drawingml/2006/main">
              <a:ext uri="{FF2B5EF4-FFF2-40B4-BE49-F238E27FC236}">
                <a16:creationId xmlns:a16="http://schemas.microsoft.com/office/drawing/2014/main" id="{FC0587BB-6C4C-4BDC-BF57-768D00AA9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639800"/>
            <a:ext cx="9896475" cy="1057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solidFill>
              <a:srgbClr val="102A43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8BBFEA9-384D-4F5B-88F1-C63E1032F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80172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28E2B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F28E2B"/>
                </a:solidFill>
                <a:latin typeface="Noto Sans KR"/>
                <a:ea typeface="Noto Sans KR"/>
                <a:cs typeface="Noto Sans KR"/>
              </a:rPr>
              <a:t>프로젝트의 결론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56144C1B-4285-4D16-998F-E481828B1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106525"/>
            <a:ext cx="60293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230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우리의 결론은 ‘QQQ가 좋다’ 또는 ‘분산하면 안전하다’가 아니다. 분산의 가치는 포기한 수익과 실제 낙폭 개선량을 함께 계산할 때만 판단할 수 있고, 최적화 결과는 선택한 위험지표와 분석 기간에 따라 달라진다.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97BB5368-F8E8-463B-ABB9-745165977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475" y="13801725"/>
            <a:ext cx="19050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6581"/>
          </a:solidFill>
          <a:ln xmlns:a="http://schemas.openxmlformats.org/drawingml/2006/main" w="0">
            <a:solidFill>
              <a:srgbClr val="486581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807A8EEA-EA42-4B60-BEDB-ABE207192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13792200"/>
            <a:ext cx="3228975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75" b="0">
                <a:solidFill>
                  <a:srgbClr val="D9E2EC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0">
                <a:solidFill>
                  <a:srgbClr val="D9E2EC"/>
                </a:solidFill>
                <a:latin typeface="Noto Sans KR"/>
                <a:ea typeface="Noto Sans KR"/>
                <a:cs typeface="Noto Sans KR"/>
              </a:rPr>
              <a:t>실행 가능한 해석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975" b="0">
                <a:solidFill>
                  <a:srgbClr val="D9E2EC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0">
                <a:solidFill>
                  <a:srgbClr val="D9E2EC"/>
                </a:solidFill>
                <a:latin typeface="Noto Sans KR"/>
                <a:ea typeface="Noto Sans KR"/>
                <a:cs typeface="Noto Sans KR"/>
              </a:rPr>
              <a:t>• 성장 노출을 유지하며 집중을 낮추려면 Strategy B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975" b="0">
                <a:solidFill>
                  <a:srgbClr val="D9E2EC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0">
                <a:solidFill>
                  <a:srgbClr val="D9E2EC"/>
                </a:solidFill>
                <a:latin typeface="Noto Sans KR"/>
                <a:ea typeface="Noto Sans KR"/>
                <a:cs typeface="Noto Sans KR"/>
              </a:rPr>
              <a:t>• 낮은 변동성보다 실제 낙폭을 우선하면 Strategy C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975" b="0">
                <a:solidFill>
                  <a:srgbClr val="D9E2EC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0">
                <a:solidFill>
                  <a:srgbClr val="D9E2EC"/>
                </a:solidFill>
                <a:latin typeface="Noto Sans KR"/>
                <a:ea typeface="Noto Sans KR"/>
                <a:cs typeface="Noto Sans KR"/>
              </a:rPr>
              <a:t>• Max Sharpe의 QQQ 99%는 기간 특화 결과로 해석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A748BD9D-3F02-4FFC-8CC6-3D4AB7013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792325"/>
            <a:ext cx="98964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52606D"/>
                </a:solidFill>
                <a:latin typeface="Noto Sans KR"/>
                <a:ea typeface="Noto Sans KR"/>
                <a:cs typeface="Noto Sans KR"/>
              </a:defRPr>
            </a:pPr>
            <a:r>
              <a:rPr sz="675" b="0">
                <a:solidFill>
                  <a:srgbClr val="52606D"/>
                </a:solidFill>
                <a:latin typeface="Noto Sans KR"/>
                <a:ea typeface="Noto Sans KR"/>
                <a:cs typeface="Noto Sans KR"/>
              </a:rPr>
              <a:t>한계: 동일 기간 최적화·평가, 비용·세금 미반영, 매일 재조정, 3개 ETF·무위험수익률 3% 고정  |  후속: 롤링·표본외 검증, 거래비용·재조정 주기 반영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97C52259-EB25-4F91-99E1-677DCC030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982825"/>
            <a:ext cx="9896475" cy="9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00" b="0">
                <a:solidFill>
                  <a:srgbClr val="52606D"/>
                </a:solidFill>
                <a:latin typeface="Noto Sans KR"/>
                <a:ea typeface="Noto Sans KR"/>
                <a:cs typeface="Noto Sans KR"/>
              </a:defRPr>
            </a:pPr>
            <a:r>
              <a:rPr sz="600" b="0">
                <a:solidFill>
                  <a:srgbClr val="52606D"/>
                </a:solidFill>
                <a:latin typeface="Noto Sans KR"/>
                <a:ea typeface="Noto Sans KR"/>
                <a:cs typeface="Noto Sans KR"/>
              </a:rPr>
              <a:t>자료: Yahoo Finance via yfinance  |  분석: Python · pandas · NumPy  |  분석 기간: 2015.01.02–2024.12.30</a:t>
            </a:r>
          </a:p>
        </p:txBody>
      </p:sp>
    </p:spTree>
    <p:extLst>
      <p:ext uri="{BB962C8B-B14F-4D97-AF65-F5344CB8AC3E}">
        <p14:creationId xmlns:p14="http://schemas.microsoft.com/office/powerpoint/2010/main" val="149643397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2026-07-30T10:23:00.4830000Z</dcterms:created>
  <dcterms:modified xsi:type="dcterms:W3CDTF">2026-07-30T10:23:00.4830000Z</dcterms:modified>
</coreProperties>
</file>