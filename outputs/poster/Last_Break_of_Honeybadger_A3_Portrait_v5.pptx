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8e9dcb6004cd1" /><Relationship Type="http://schemas.openxmlformats.org/officeDocument/2006/relationships/extended-properties" Target="/docProps/app.xml" Id="Rba7c3b25d6dc47e5" /><Relationship Type="http://schemas.openxmlformats.org/officeDocument/2006/relationships/officeDocument" Target="/ppt/presentation.xml" Id="R77582debbd89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df9dd40c64823"/>
  </p:sldMasterIdLst>
  <p:notesMasterIdLst>
    <p:notesMasterId xmlns:r="http://schemas.openxmlformats.org/officeDocument/2006/relationships" r:id="R335c93356c1740da"/>
  </p:notesMasterIdLst>
  <p:sldIdLst>
    <p:sldId xmlns:r="http://schemas.openxmlformats.org/officeDocument/2006/relationships" id="256" r:id="Rd80ac7c404c842ea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b09d91d414ee3" /><Relationship Type="http://schemas.openxmlformats.org/officeDocument/2006/relationships/slideMaster" Target="/ppt/slideMasters/slideMaster1.xml" Id="Rccfdf9dd40c64823" /><Relationship Type="http://schemas.openxmlformats.org/officeDocument/2006/relationships/notesMaster" Target="/ppt/notesMasters/notesMaster1.xml" Id="R335c93356c1740da" /><Relationship Type="http://schemas.openxmlformats.org/officeDocument/2006/relationships/presProps" Target="/ppt/presProps.xml" Id="Rb27d986fbb754bbf" /><Relationship Type="http://schemas.openxmlformats.org/officeDocument/2006/relationships/tableStyles" Target="/ppt/tableStyles.xml" Id="Rf99ee70fd5564477" /><Relationship Type="http://schemas.openxmlformats.org/officeDocument/2006/relationships/slide" Target="/ppt/slides/slide1.xml" Id="Rd80ac7c404c8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c10223eb05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a0c6f7e84447c" /><Relationship Type="http://schemas.openxmlformats.org/officeDocument/2006/relationships/notesMaster" Target="/ppt/notesMasters/notesMaster1.xml" Id="Rf42d544e837144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2c779f83e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2419f2cdf421c" /><Relationship Type="http://schemas.openxmlformats.org/officeDocument/2006/relationships/slideLayout" Target="/ppt/slideLayouts/slideLayout1.xml" Id="R97d23b78bc1d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23b78bc1d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76dcb321b4e0b" /><Relationship Type="http://schemas.openxmlformats.org/officeDocument/2006/relationships/chart" Target="/ppt/slides/charts/chart1.xml" Id="R3a14e3ff1ba4426d" /><Relationship Type="http://schemas.openxmlformats.org/officeDocument/2006/relationships/chart" Target="/ppt/slides/charts/chart2.xml" Id="R8a047609932d4ed0" /><Relationship Type="http://schemas.openxmlformats.org/officeDocument/2006/relationships/chart" Target="/ppt/slides/charts/chart3.xml" Id="R28205bacc4d7492d" /><Relationship Type="http://schemas.openxmlformats.org/officeDocument/2006/relationships/notesSlide" Target="/ppt/notesSlides/notesSlide1.xml" Id="Rbdb7557ebf624dca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varyColors val="1"/>
        <c:ser>
          <c:idx val="0"/>
          <c:order val="0"/>
          <c:tx>
            <c:v>Strategy A</c:v>
          </c:tx>
          <c:spPr>
            <a:solidFill xmlns:a="http://schemas.openxmlformats.org/drawingml/2006/main">
              <a:srgbClr val="4E79A7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35.12</c:v>
              </c:pt>
            </c:numLit>
          </c:xVal>
          <c:yVal>
            <c:numLit>
              <c:formatCode>0</c:formatCode>
              <c:ptCount val="1"/>
              <c:pt idx="0">
                <c:v>441.24</c:v>
              </c:pt>
            </c:numLit>
          </c:yVal>
        </c:ser>
        <c:ser>
          <c:idx val="1"/>
          <c:order val="1"/>
          <c:tx>
            <c:v>Strategy B</c:v>
          </c:tx>
          <c:spPr>
            <a:solidFill xmlns:a="http://schemas.openxmlformats.org/drawingml/2006/main">
              <a:srgbClr val="F28E2B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30.86</c:v>
              </c:pt>
            </c:numLit>
          </c:xVal>
          <c:yVal>
            <c:numLit>
              <c:formatCode>0</c:formatCode>
              <c:ptCount val="1"/>
              <c:pt idx="0">
                <c:v>333.37</c:v>
              </c:pt>
            </c:numLit>
          </c:yVal>
        </c:ser>
        <c:ser>
          <c:idx val="2"/>
          <c:order val="2"/>
          <c:tx>
            <c:v>Strategy C</c:v>
          </c:tx>
          <c:spPr>
            <a:solidFill xmlns:a="http://schemas.openxmlformats.org/drawingml/2006/main">
              <a:srgbClr val="59A14F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27.24</c:v>
              </c:pt>
            </c:numLit>
          </c:xVal>
          <c:yVal>
            <c:numLit>
              <c:formatCode>0</c:formatCode>
              <c:ptCount val="1"/>
              <c:pt idx="0">
                <c:v>115.32</c:v>
              </c:pt>
            </c:numLit>
          </c:yVal>
        </c:ser>
        <c:ser>
          <c:idx val="3"/>
          <c:order val="3"/>
          <c:tx>
            <c:v>Max Sharpe</c:v>
          </c:tx>
          <c:spPr>
            <a:solidFill xmlns:a="http://schemas.openxmlformats.org/drawingml/2006/main">
              <a:srgbClr val="E15759"/>
            </a:solidFill>
          </c:spPr>
          <c:marker>
            <c:symbol val="diamond"/>
            <c:size val="9"/>
          </c:marker>
          <c:xVal>
            <c:numLit>
              <c:formatCode>General</c:formatCode>
              <c:ptCount val="1"/>
              <c:pt idx="0">
                <c:v>35.07</c:v>
              </c:pt>
            </c:numLit>
          </c:xVal>
          <c:yVal>
            <c:numLit>
              <c:formatCode>0</c:formatCode>
              <c:ptCount val="1"/>
              <c:pt idx="0">
                <c:v>434.05</c:v>
              </c:pt>
            </c:numLit>
          </c:yVal>
        </c:ser>
        <c:ser>
          <c:idx val="4"/>
          <c:order val="4"/>
          <c:tx>
            <c:v>Min Volatility</c:v>
          </c:tx>
          <c:spPr>
            <a:solidFill xmlns:a="http://schemas.openxmlformats.org/drawingml/2006/main">
              <a:srgbClr val="8F6AAE"/>
            </a:solidFill>
          </c:spPr>
          <c:marker>
            <c:symbol val="diamond"/>
            <c:size val="10"/>
          </c:marker>
          <c:xVal>
            <c:numLit>
              <c:formatCode>General</c:formatCode>
              <c:ptCount val="1"/>
              <c:pt idx="0">
                <c:v>29.2</c:v>
              </c:pt>
            </c:numLit>
          </c:xVal>
          <c:yVal>
            <c:numLit>
              <c:formatCode>0</c:formatCode>
              <c:ptCount val="1"/>
              <c:pt idx="0">
                <c:v>75.64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47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37"/>
          <c:min val="2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변화폭</c:v>
          </c:tx>
          <c:spPr>
            <a:solidFill xmlns:a="http://schemas.openxmlformats.org/drawingml/2006/main">
              <a:srgbClr val="F28E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cat>
            <c:strLit>
              <c:ptCount val="3"/>
              <c:pt idx="0">
                <c:v>수익 비용</c:v>
              </c:pt>
              <c:pt idx="1">
                <c:v>변동성 감소</c:v>
              </c:pt>
              <c:pt idx="2">
                <c:v>MDD 개선</c:v>
              </c:pt>
            </c:strLit>
          </c:cat>
          <c:val>
            <c:numLit>
              <c:formatCode>0.00</c:formatCode>
              <c:ptCount val="3"/>
              <c:pt idx="0">
                <c:v>2.73</c:v>
              </c:pt>
              <c:pt idx="1">
                <c:v>2.45</c:v>
              </c:pt>
              <c:pt idx="2">
                <c:v>4.26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0.0007</c:v>
              </c:pt>
              <c:pt idx="1">
                <c:v>0.445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0.99</c:v>
              </c:pt>
              <c:pt idx="1">
                <c:v>0.0014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0.0093</c:v>
              </c:pt>
              <c:pt idx="1">
                <c:v>0.5535</c:v>
              </c:pt>
            </c:numLit>
          </c:val>
        </c:ser>
        <c:gapWidth val="4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48E4F6D-61D4-48F1-8912-06D47EE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4CD7-AEA1-4C88-AA2A-ECB775A4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3025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64B86A39-09FC-4588-BF00-55F7FC70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681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0773A7C4-660A-4B36-85E3-A6560FE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공격적으로 투자하기 전, SPY·QQQ·TLT로 확인한 수익–위험의 마지막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77180-E032-4F23-B52C-9492849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05E777F5-FD2B-4225-B7FC-266CDA0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"/>
            <a:ext cx="2466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분산에 지불한 수익의 비용은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손실 감소로 돌아왔는가?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4854E-B00C-4A68-A9A4-6C467C2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D7BFA-E060-4B60-9247-3BAE966D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01. 문제 제기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6679A-84D3-4D47-BA2E-C38E2852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71625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수익률 1등만으로는 투자 전략을 결정할 수 없다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C46A0-260F-494C-9F59-DDFFF579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646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2015–2024년 QQQ의 누적수익률은 441.24%, 연율수익률은 19.32%였다. 수익률만 보면 QQQ 100%인 Strategy A가 자연스러운 답이다. 그러나 같은 전략의 변동성은 21.82%, 최대낙폭(MDD)은 −35.12%였다. 투자자는 평균수익률이 아니라 실제 하락 구간도 견뎌야 하므로, 높은 수익이 집중 위험을 충분히 보상했는지를 따로 확인해야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964A4-EC7E-4EF3-83EB-DD64C29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3133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A8FF2-8D14-4B3E-91B8-6D628E73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2790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그래서 세 가지를 물었다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1  분산은 실제 MDD를 줄였는가?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2  그 대가로 수익을 얼마나 포기했는가?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3  최적화는 더 나은 답을 만들었는가?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F8EDD-F655-4EE4-9CA9-3B05E91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F5C65-7A15-4996-B1FB-2C4A10D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02. 방법론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DCCE-6EBD-43A9-93A0-96428C8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90875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수동 전략과 최적화를 동일한 데이터·동일한 지표로 비교했다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0FA3A-53C8-4E2B-9502-EF2D246D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676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7A994-9006-4957-B0FD-875BCB6C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5C631-168D-4BAF-A63D-5F5C0873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9A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79A7"/>
                </a:solidFill>
                <a:latin typeface="Noto Sans KR"/>
                <a:ea typeface="Noto Sans KR"/>
                <a:cs typeface="Noto Sans KR"/>
              </a:rPr>
              <a:t>1 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A5C1A-B331-46D8-91B3-D5582C93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SPY · QQQ · TLT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2015.01.02–2024.12.30, 2,515거래일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일별 수익률을 계산해 252일 기준으로 연율화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32716-441C-414E-9F28-655B429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76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2  전략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72F77-D9A2-4A42-87AC-413829C3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005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공격형  QQQ 100% — 집중 성장의 기준선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 균형형  SPY 50% + QQQ 50% — 주식 내 분산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C 방어형  SPY 60% + TLT 40% — 주식·채권 분산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Max Sharpe  위험조정성과 최대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Min Volatility  변동성 최소  |  10,000개 중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923DD-618E-4300-AD70-1BE93A98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766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A7F80"/>
                </a:solidFill>
                <a:latin typeface="Noto Sans KR"/>
                <a:ea typeface="Noto Sans KR"/>
                <a:cs typeface="Noto Sans KR"/>
              </a:rPr>
              <a:t>3  판단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FF0E1-8A4D-48A8-A2EE-FCC9898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연율·누적수익률  수익의 크기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변동성  일별 흔들림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MDD  고점 대비 실제 최대 손실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Sharpe  위험 1단위당 초과수익(무위험 3%)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E994D-2300-4A89-8513-50F3AC8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9896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1"/>
          </a:solidFill>
          <a:ln xmlns:a="http://schemas.openxmlformats.org/drawingml/2006/main" w="0">
            <a:solidFill>
              <a:srgbClr val="E5F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C7258-73FC-471D-8C1A-D436745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9553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전략의 역할  집중 성장(A) → 주식 내 분산(B) → 자산군 분산(C)으로 위험 완화 단계를 설계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분석 순서  전체 위치 확인 → A→B의 비용 계산 → 최적화가 새로운 해법인지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44D96-8E2C-4C4B-AA45-0E7CD97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E7871-CCDE-467A-A8AA-92B852C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03. 결과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2F27A-F003-40BE-9F22-12F905B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먼저 모든 전략을 수익과 실제 낙폭의 지도에 배치했다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9FD50-7265-46BD-82D3-8392EE1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누적수익률–최대낙폭 지도  |  왼쪽 위일수록 높은 수익과 작은 낙폭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400050" y="6343650"/>
          <a:ext xmlns:a="http://schemas.openxmlformats.org/drawingml/2006/main" cx="5791200" cy="2533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14e3ff1ba4426d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12E9B-9940-47B6-BE9A-0CD675D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389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rPr>
              <a:t>A / Max Sharpe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AD368-4021-4866-8DAB-6827AE0D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19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10E848-C319-4D63-8077-BEC5E32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124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F306A-5B96-4615-A6B1-185B55B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9152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F6AAE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8F6AAE"/>
                </a:solidFill>
                <a:latin typeface="Noto Sans KR"/>
                <a:ea typeface="Noto Sans KR"/>
                <a:cs typeface="Noto Sans KR"/>
              </a:rPr>
              <a:t>Min Vol.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73B4C2-2BB4-418B-9B76-ABFDD427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96000"/>
            <a:ext cx="38195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E5BB17-C774-4015-944E-4D06196C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2960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7996D0-B938-4B7D-A738-C6D31C1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6267450"/>
            <a:ext cx="3343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첫 번째 발견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61C4A-F345-4B32-A6AA-AA66FAA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638925"/>
            <a:ext cx="34575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완벽한 왼쪽 위 전략은 없었다. A와 Max Sharpe는 높은 수익을 기록했지만 MDD가 약 −35%였고, B는 수익과 낙폭의 중간에 위치했다.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가장 중요한 비교는 C와 Min Volatility다. C는 변동성이 0.76%p 높았지만 누적수익률은 39.68%p 높고 MDD는 1.96%p 얕았다. ‘일별 흔들림’을 최소화한 전략이 ‘실제 최대 손실’까지 최소화한 것은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변동성과 MDD를 분리해 봐야 한다. 이 결과를 바탕으로, 다음 단계에서는 현실적 중간안인 B의 비용과 편익을 계산했다.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9889C-F3F9-44A3-A223-2659EBD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458200"/>
            <a:ext cx="3457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0">
            <a:solidFill>
              <a:srgbClr val="FCE9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9D052E-A7C3-403A-B852-A1A4BD1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524875"/>
            <a:ext cx="3267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핵심  변동성 최소화 ≠ 손실 최소화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88092E-361A-40D3-9D13-1626532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3447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B7D11-E6B2-4A61-97E0-B11DE67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0590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04. 결과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FCCD5C-B51D-419B-9115-9FA8CCB5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그다음 Strategy B가 무엇을 포기하고 무엇을 얻었는지 계산했다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9790DA-C82B-4A82-B85F-8741C457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63100"/>
            <a:ext cx="414337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DC7B2-CBBD-4799-AB2A-17D48D8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3800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QQQ 비중  100% → 50%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mlns:a="http://schemas.openxmlformats.org/drawingml/2006/main" x="571500" y="10039350"/>
          <a:ext xmlns:a="http://schemas.openxmlformats.org/drawingml/2006/main" cx="3800475" cy="1219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47609932d4ed0"/>
          </a:graphicData>
        </a:graphic>
      </p:graphicFrame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00FD5B-1729-4331-9E88-573E8A2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15700"/>
            <a:ext cx="3800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주황 = 포기한 수익  |  청록 = 줄인 위험  |  단위: %p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EB91BB-DB9D-494B-8D3F-1C73174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601200"/>
            <a:ext cx="54197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먼저 비용을 계산했다.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연율수익률  19.32%→16.59%  (−2.73%p)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누적수익률  441.24%→333.37%  (−107.87%p)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다음으로 편익을 계산했다.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변동성  21.82%→19.37%  (−2.45%p)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MDD  −35.12%→−30.86%  (4.26%p 개선)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Sharpe  0.75→0.70  (−0.05)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B는 수동 전략 중 유일하게 연율수익률 15% 이상을 유지하면서 A보다 변동성과 MDD를 모두 낮췄다. 공짜로 안전해진 전략은 아니지만, 성장 노출을 유지하기 위해 지불한 비용이 명확한 절충안이다. 다음으로 최적화가 더 나은 절충안을 제시했는지 확인했다.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ED015A-935A-4DC6-82B2-B39526D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3957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EEC3BE-0AAD-4A4E-89AE-44869027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05. 결과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978EBD-6D13-4E73-AD8B-7B693E4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81100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마지막으로 최적화가 새로운 분산 해법을 제시했는지 검증했다</a:t>
            </a:r>
          </a:p>
        </p:txBody>
      </p:sp>
      <p:graphicFrame>
        <p:nvGraphicFramePr>
          <p:cNvPr id="115" name="Chart"/>
          <p:cNvGraphicFramePr/>
          <p:nvPr/>
        </p:nvGraphicFramePr>
        <p:xfrm>
          <a:off xmlns:a="http://schemas.openxmlformats.org/drawingml/2006/main" x="400050" y="12268200"/>
          <a:ext xmlns:a="http://schemas.openxmlformats.org/drawingml/2006/main" cx="3438525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205bacc4d7492d"/>
          </a:graphicData>
        </a:graphic>
      </p:graphicFrame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B43C0F-2BA2-45CF-8F4C-DAC43F48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925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99.00%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394C10-46D5-475E-8DB2-C220CFC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6492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55.35%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9272B3-4E13-4748-B10E-5062243A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1635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44.50%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079F40-657E-4A1F-BF9A-CB16A95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287250"/>
            <a:ext cx="6124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Max Sharpe는 QQQ 99.00%로 수렴해 Strategy A와 거의 같은 수익·위험을 기록했다. 새로운 분산 해법보다 2015–2024년의 승자였던 QQQ 집중을 다시 선택한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Min Volatility는 변동성을 10.29%로 낮췄지만 MDD는 −29.20%, 누적수익률은 75.64%였다. 결과 1에서 확인했듯 C가 실제 낙폭과 누적성과에서는 더 나았다.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최적화는 설정한 지표만 푼다. 같은 기간으로 최적화와 평가를 수행한 in-sample 결과이므로, ‘최적’이라는 이름보다 어떤 위험을 어떤 기간에서 최적화했는지를 먼저 확인해야 한다.</a:t>
            </a:r>
          </a:p>
        </p:txBody>
      </p:sp>
      <p:sp>
        <p:nvSpPr>
          <p:cNvPr id="57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B1DA1896-7A00-4C80-A92E-47664286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906500"/>
            <a:ext cx="10696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B56760-B077-4C0F-A530-91CC7D6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49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연구 질문에 대한 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C125D1-EE0E-4015-A7D1-FAC9C2D2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44650"/>
            <a:ext cx="624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분산의 가치는 포기한 수익과 실제 낙폭 개선량을 함께 계산할 때 판단할 수 있다. 이 기준에서 B는 성장 노출과 위험 완화 사이의 현실적 절충안이고, C는 변동성 최소화보다 실제 손실을 우선할 때 더 설득력 있는 방어안이었다.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E798BB-1586-4E93-AD03-FB24C34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58900"/>
            <a:ext cx="19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F4A17B-0757-4A43-AE9D-DE321960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039850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최종 판단 원칙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1  최고 수익률보다 감내 가능한 MDD를 먼저 정한다.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2  변동성과 최대낙폭을 서로 다른 위험으로 본다.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3  최적화 결과는 기간 밖 검증 후 사용한다.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263A1B-027E-475B-9EF0-86F6CD7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35200"/>
            <a:ext cx="98964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한계: 동일 기간 최적화·평가, 비용·세금 미반영, 매일 재조정, 3개 ETF·무위험수익률 3% 고정  |  후속: 롤링·표본외 검증, 거래비용·재조정 주기 반영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69B981-790D-442E-B93C-DC32DEE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30450"/>
            <a:ext cx="989647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 · pandas · NumPy  |  분석 기간: 2015.01.02–2024.12.30</a:t>
            </a:r>
          </a:p>
        </p:txBody>
      </p:sp>
    </p:spTree>
    <p:extLst>
      <p:ext uri="{BB962C8B-B14F-4D97-AF65-F5344CB8AC3E}">
        <p14:creationId xmlns:p14="http://schemas.microsoft.com/office/powerpoint/2010/main" val="785633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2026-07-30T10:41:45.0650000Z</dcterms:created>
  <dcterms:modified xsi:type="dcterms:W3CDTF">2026-07-30T10:41:45.0650000Z</dcterms:modified>
</coreProperties>
</file>