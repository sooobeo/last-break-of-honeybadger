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9272d89bc45f3" /><Relationship Type="http://schemas.openxmlformats.org/officeDocument/2006/relationships/extended-properties" Target="/docProps/app.xml" Id="R3aa1f64543b8424c" /><Relationship Type="http://schemas.openxmlformats.org/officeDocument/2006/relationships/officeDocument" Target="/ppt/presentation.xml" Id="Re2fec11a98a6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ca2028c58c4270"/>
  </p:sldMasterIdLst>
  <p:notesMasterIdLst>
    <p:notesMasterId xmlns:r="http://schemas.openxmlformats.org/officeDocument/2006/relationships" r:id="R88897382cb4f44da"/>
  </p:notesMasterIdLst>
  <p:sldIdLst>
    <p:sldId xmlns:r="http://schemas.openxmlformats.org/officeDocument/2006/relationships" id="256" r:id="R710f5a90ffcf4fe6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7af1b353249a3" /><Relationship Type="http://schemas.openxmlformats.org/officeDocument/2006/relationships/slideMaster" Target="/ppt/slideMasters/slideMaster1.xml" Id="Rd4ca2028c58c4270" /><Relationship Type="http://schemas.openxmlformats.org/officeDocument/2006/relationships/notesMaster" Target="/ppt/notesMasters/notesMaster1.xml" Id="R88897382cb4f44da" /><Relationship Type="http://schemas.openxmlformats.org/officeDocument/2006/relationships/presProps" Target="/ppt/presProps.xml" Id="R7cd476c515274410" /><Relationship Type="http://schemas.openxmlformats.org/officeDocument/2006/relationships/tableStyles" Target="/ppt/tableStyles.xml" Id="R17eece823b5a4f17" /><Relationship Type="http://schemas.openxmlformats.org/officeDocument/2006/relationships/slide" Target="/ppt/slides/slide1.xml" Id="R710f5a90ffcf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578143fda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61edc3175429f" /><Relationship Type="http://schemas.openxmlformats.org/officeDocument/2006/relationships/notesMaster" Target="/ppt/notesMasters/notesMaster1.xml" Id="R9945bbedb08f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price data: C:\Users\Insun\Last-break-of-Honeybadger\etf_price.csv</a:t>
            </a:r>
          </a:p>
          <a:p xmlns:a="http://schemas.openxmlformats.org/drawingml/2006/main">
            <a:r>
              <a:t>- Asset return summary: C:\Users\Insun\Last-break-of-Honeybadger\outputs\week4\week4_return_summary.csv</a:t>
            </a:r>
          </a:p>
          <a:p xmlns:a="http://schemas.openxmlformats.org/drawingml/2006/main">
            <a:r>
              <a:t>- Asset risk summary: C:\Users\Insun\Last-break-of-Honeybadger\outputs\week5\week5_risk_summary.csv</a:t>
            </a:r>
          </a:p>
          <a:p xmlns:a="http://schemas.openxmlformats.org/drawingml/2006/main">
            <a:r>
              <a:t>- Manual strategy summary: C:\Users\Insun\Last-break-of-Honeybadger\outputs\week6\week6_strategy_summary.csv</a:t>
            </a:r>
          </a:p>
          <a:p xmlns:a="http://schemas.openxmlformats.org/drawingml/2006/main">
            <a:r>
              <a:t>- Monte Carlo simulations and optimal portfolios: C:\Users\Insun\Last-break-of-Honeybadger\outputs\week7</a:t>
            </a:r>
          </a:p>
          <a:p xmlns:a="http://schemas.openxmlformats.org/drawingml/2006/main">
            <a:r>
              <a:t>- Final strategy summary and recommendations: C:\Users\Insun\Last-break-of-Honeybadger\outputs\week8</a:t>
            </a:r>
          </a:p>
          <a:p xmlns:a="http://schemas.openxmlformats.org/drawingml/2006/main">
            <a:r>
              <a:t>- Efficient frontier image: C:\Users\Insun\Last-break-of-Honeybadger\outputs\week7\efficient_frontier.png</a:t>
            </a:r>
          </a:p>
          <a:p xmlns:a="http://schemas.openxmlformats.org/drawingml/2006/main">
            <a:r>
              <a:t>- Underlying market-data source recorded by the project: Yahoo Finance via yfinance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3cb06b52d43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54c184ba9849e1" /><Relationship Type="http://schemas.openxmlformats.org/officeDocument/2006/relationships/slideLayout" Target="/ppt/slideLayouts/slideLayout1.xml" Id="R2f39e99d16694e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9e99d16694e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852bdf1524aec" /><Relationship Type="http://schemas.openxmlformats.org/officeDocument/2006/relationships/chart" Target="/ppt/slides/charts/chart1.xml" Id="Re8568dc66a9c42f8" /><Relationship Type="http://schemas.openxmlformats.org/officeDocument/2006/relationships/chart" Target="/ppt/slides/charts/chart2.xml" Id="R88820abc9c28410b" /><Relationship Type="http://schemas.openxmlformats.org/officeDocument/2006/relationships/chart" Target="/ppt/slides/charts/chart3.xml" Id="Rd4bd3f33475a415e" /><Relationship Type="http://schemas.openxmlformats.org/officeDocument/2006/relationships/notesSlide" Target="/ppt/notesSlides/notesSlide1.xml" Id="R998857428a0d4405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varyColors val="1"/>
        <c:ser>
          <c:idx val="0"/>
          <c:order val="0"/>
          <c:tx>
            <c:v>Strategy A</c:v>
          </c:tx>
          <c:spPr>
            <a:solidFill xmlns:a="http://schemas.openxmlformats.org/drawingml/2006/main">
              <a:srgbClr val="4E79A7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35.12</c:v>
              </c:pt>
            </c:numLit>
          </c:xVal>
          <c:yVal>
            <c:numLit>
              <c:formatCode>0</c:formatCode>
              <c:ptCount val="1"/>
              <c:pt idx="0">
                <c:v>441.24</c:v>
              </c:pt>
            </c:numLit>
          </c:yVal>
        </c:ser>
        <c:ser>
          <c:idx val="1"/>
          <c:order val="1"/>
          <c:tx>
            <c:v>Strategy B</c:v>
          </c:tx>
          <c:spPr>
            <a:solidFill xmlns:a="http://schemas.openxmlformats.org/drawingml/2006/main">
              <a:srgbClr val="F28E2B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30.86</c:v>
              </c:pt>
            </c:numLit>
          </c:xVal>
          <c:yVal>
            <c:numLit>
              <c:formatCode>0</c:formatCode>
              <c:ptCount val="1"/>
              <c:pt idx="0">
                <c:v>333.37</c:v>
              </c:pt>
            </c:numLit>
          </c:yVal>
        </c:ser>
        <c:ser>
          <c:idx val="2"/>
          <c:order val="2"/>
          <c:tx>
            <c:v>Strategy C</c:v>
          </c:tx>
          <c:spPr>
            <a:solidFill xmlns:a="http://schemas.openxmlformats.org/drawingml/2006/main">
              <a:srgbClr val="59A14F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27.24</c:v>
              </c:pt>
            </c:numLit>
          </c:xVal>
          <c:yVal>
            <c:numLit>
              <c:formatCode>0</c:formatCode>
              <c:ptCount val="1"/>
              <c:pt idx="0">
                <c:v>115.32</c:v>
              </c:pt>
            </c:numLit>
          </c:yVal>
        </c:ser>
        <c:ser>
          <c:idx val="3"/>
          <c:order val="3"/>
          <c:tx>
            <c:v>Max Sharpe</c:v>
          </c:tx>
          <c:spPr>
            <a:solidFill xmlns:a="http://schemas.openxmlformats.org/drawingml/2006/main">
              <a:srgbClr val="E15759"/>
            </a:solidFill>
          </c:spPr>
          <c:marker>
            <c:symbol val="diamond"/>
            <c:size val="9"/>
          </c:marker>
          <c:xVal>
            <c:numLit>
              <c:formatCode>General</c:formatCode>
              <c:ptCount val="1"/>
              <c:pt idx="0">
                <c:v>35.07</c:v>
              </c:pt>
            </c:numLit>
          </c:xVal>
          <c:yVal>
            <c:numLit>
              <c:formatCode>0</c:formatCode>
              <c:ptCount val="1"/>
              <c:pt idx="0">
                <c:v>434.05</c:v>
              </c:pt>
            </c:numLit>
          </c:yVal>
        </c:ser>
        <c:ser>
          <c:idx val="4"/>
          <c:order val="4"/>
          <c:tx>
            <c:v>Min Volatility</c:v>
          </c:tx>
          <c:spPr>
            <a:solidFill xmlns:a="http://schemas.openxmlformats.org/drawingml/2006/main">
              <a:srgbClr val="8F6AAE"/>
            </a:solidFill>
          </c:spPr>
          <c:marker>
            <c:symbol val="diamond"/>
            <c:size val="10"/>
          </c:marker>
          <c:xVal>
            <c:numLit>
              <c:formatCode>General</c:formatCode>
              <c:ptCount val="1"/>
              <c:pt idx="0">
                <c:v>29.2</c:v>
              </c:pt>
            </c:numLit>
          </c:xVal>
          <c:yVal>
            <c:numLit>
              <c:formatCode>0</c:formatCode>
              <c:ptCount val="1"/>
              <c:pt idx="0">
                <c:v>75.64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47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2606D"/>
                </a:solidFill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37"/>
          <c:min val="25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2606D"/>
                </a:solidFill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변화폭</c:v>
          </c:tx>
          <c:spPr>
            <a:solidFill xmlns:a="http://schemas.openxmlformats.org/drawingml/2006/main">
              <a:srgbClr val="F28E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A7F8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A7F80"/>
              </a:solidFill>
            </c:spPr>
          </c:dPt>
          <c:cat>
            <c:strLit>
              <c:ptCount val="3"/>
              <c:pt idx="0">
                <c:v>수익 비용</c:v>
              </c:pt>
              <c:pt idx="1">
                <c:v>변동성 감소</c:v>
              </c:pt>
              <c:pt idx="2">
                <c:v>MDD 개선</c:v>
              </c:pt>
            </c:strLit>
          </c:cat>
          <c:val>
            <c:numLit>
              <c:formatCode>0.00</c:formatCode>
              <c:ptCount val="3"/>
              <c:pt idx="0">
                <c:v>2.73</c:v>
              </c:pt>
              <c:pt idx="1">
                <c:v>2.45</c:v>
              </c:pt>
              <c:pt idx="2">
                <c:v>4.26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SPY</c:v>
          </c:tx>
          <c:spPr>
            <a:solidFill xmlns:a="http://schemas.openxmlformats.org/drawingml/2006/main">
              <a:srgbClr val="4E79A7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0.0007</c:v>
              </c:pt>
              <c:pt idx="1">
                <c:v>0.445</c:v>
              </c:pt>
            </c:numLit>
          </c:val>
        </c:ser>
        <c:ser>
          <c:idx val="1"/>
          <c:order val="1"/>
          <c:tx>
            <c:v>QQQ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0.99</c:v>
              </c:pt>
              <c:pt idx="1">
                <c:v>0.0014</c:v>
              </c:pt>
            </c:numLit>
          </c:val>
        </c:ser>
        <c:ser>
          <c:idx val="2"/>
          <c:order val="2"/>
          <c:tx>
            <c:v>TLT</c:v>
          </c:tx>
          <c:spPr>
            <a:solidFill xmlns:a="http://schemas.openxmlformats.org/drawingml/2006/main">
              <a:srgbClr val="59A14F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0.0093</c:v>
              </c:pt>
              <c:pt idx="1">
                <c:v>0.5535</c:v>
              </c:pt>
            </c:numLit>
          </c:val>
        </c:ser>
        <c:gapWidth val="4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3DD84C1-7D2E-4F23-8670-F2FDAE50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0C823-D2F4-44F4-998E-EDBB1F0D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43025"/>
            <a:ext cx="10696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170B5C5-EBAC-42EA-AA4F-8B0FF8CC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681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벌꿀오소리의 마지막 브레이크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5F957BE5-61B5-4BE5-ABAD-678E127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6775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공격적으로 투자하기 전, SPY·QQQ·TLT로 확인한 수익–위험의 마지막 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A4776-F159-47DB-925B-3BA4DB0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6" name="research-question-header">
            <a:extLst xmlns:a="http://schemas.openxmlformats.org/drawingml/2006/main">
              <a:ext uri="{FF2B5EF4-FFF2-40B4-BE49-F238E27FC236}">
                <a16:creationId xmlns:a16="http://schemas.microsoft.com/office/drawing/2014/main" id="{2B6ADCF1-462B-4BB0-AD08-E342EA8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"/>
            <a:ext cx="2466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연구 질문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분산에 지불한 수익의 비용은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손실 감소로 돌아왔는가?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A43B7-7268-438A-8E84-784D6DA8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B565B-2CC2-442D-9364-12B51435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01. 문제 제기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B85BF-6457-4C87-9E66-31F5C4D8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71625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수익률 1등만으로는 투자 전략을 결정할 수 없다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908B7-EB0A-49EE-BDFA-51890E37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646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2015–2024년 QQQ의 누적수익률은 441.24%, 연율수익률은 19.32%였다. 수익률만 보면 QQQ 100%인 Strategy A가 자연스러운 답이다. 그러나 같은 전략의 변동성은 21.82%, 최대낙폭(MDD)은 −35.12%였다. 투자자는 평균수익률이 아니라 실제 하락 구간도 견뎌야 하므로, 높은 수익이 집중 위험을 충분히 보상했는지를 따로 확인해야 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E490C-3E17-4420-9600-07F38F87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3133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87640-1ACD-45F5-99CB-7FC9EC0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2790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그래서 세 가지를 물었다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1  분산은 실제 MDD를 줄였는가?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2  그 대가로 수익을 얼마나 포기했는가?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3  최적화는 더 나은 답을 만들었는가?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0BD46-88EC-472F-8C3B-B5B16390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1FEE7-C2C4-4A71-965A-22A1D1A5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02. 방법론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3618C-3706-4832-BBC4-1F93FF2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90875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수동 전략과 최적화를 동일한 데이터·동일한 지표로 비교했다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281C4-2520-45AD-981B-1358ABE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67665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08AD8-1FC9-4D2C-8BFB-8058EE36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41B13-6BFA-4C2B-9E6E-077E9D9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9A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79A7"/>
                </a:solidFill>
                <a:latin typeface="Noto Sans KR"/>
                <a:ea typeface="Noto Sans KR"/>
                <a:cs typeface="Noto Sans KR"/>
              </a:rPr>
              <a:t>1 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8DB25-B40C-49C8-8859-2F5D7FAC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SPY · QQQ · TLT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2015.01.02–2024.12.30, 2,515거래일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일별 수익률을 계산해 252일 기준으로 연율화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FD609-5655-4960-94D9-F80A3FBB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76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2  비교 대상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4B566-601F-4C8E-8D47-1F3A20EB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005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  QQQ 100%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  SPY 50% + QQQ 50%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C  SPY 60% + TLT 40%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공매도 없이 포트폴리오 10,000개 추가 시뮬레이션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032EB-8A15-4313-B3B1-E4A5E55C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766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F8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A7F80"/>
                </a:solidFill>
                <a:latin typeface="Noto Sans KR"/>
                <a:ea typeface="Noto Sans KR"/>
                <a:cs typeface="Noto Sans KR"/>
              </a:rPr>
              <a:t>3  판단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3D5EA-0CEF-4BD0-83BD-022558AC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연율·누적수익률  수익의 크기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변동성  일별 흔들림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MDD  고점 대비 실제 최대 손실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Sharpe  위험 1단위당 초과수익(무위험 3%)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4E187-1CC4-4402-A12D-8A394B5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38725"/>
            <a:ext cx="9896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1"/>
          </a:solidFill>
          <a:ln xmlns:a="http://schemas.openxmlformats.org/drawingml/2006/main" w="0">
            <a:solidFill>
              <a:srgbClr val="E5F2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79048-2702-4835-B370-82F8CEAB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33975"/>
            <a:ext cx="9553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분석 순서  전체 전략의 수익–낙폭 위치 확인 → A에서 B로 바꿀 때의 비용 계산 → 최적화 결과가 새로운 해법인지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7680D-23F5-43D1-BEC5-21016FFC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8642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9E6D5-B28D-4066-94C2-EFEAC476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03. 결과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51578-6F80-4E1A-BF43-3C84BCD7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먼저 모든 전략을 수익과 실제 낙폭의 지도에 배치했다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57CB7-BFD4-4649-8539-0C07562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누적수익률–최대낙폭 지도  |  왼쪽 위일수록 높은 수익과 작은 낙폭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400050" y="6343650"/>
          <a:ext xmlns:a="http://schemas.openxmlformats.org/drawingml/2006/main" cx="5791200" cy="2533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568dc66a9c42f8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E06622-D7DA-4CA7-9757-ECA2B00E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6389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1575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E15759"/>
                </a:solidFill>
                <a:latin typeface="Noto Sans KR"/>
                <a:ea typeface="Noto Sans KR"/>
                <a:cs typeface="Noto Sans KR"/>
              </a:rPr>
              <a:t>A / Max Sharpe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81FF5-B938-4B12-A5CC-FBC228E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7191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D3E86B-7D7B-4D10-AE37-542377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124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9A14F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6B5BE4-FFFD-415C-98AC-374686E3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9152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F6AAE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8F6AAE"/>
                </a:solidFill>
                <a:latin typeface="Noto Sans KR"/>
                <a:ea typeface="Noto Sans KR"/>
                <a:cs typeface="Noto Sans KR"/>
              </a:rPr>
              <a:t>Min Vol.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4422D6-AE5C-499C-990C-0B28C448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96000"/>
            <a:ext cx="38195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2408CB-4570-4470-AFBB-3B1AB286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2960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C787D-62F8-40FE-8C78-5444F2F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6267450"/>
            <a:ext cx="3343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첫 번째 발견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33EA4D-D92A-42DA-85E4-7D9F6380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638925"/>
            <a:ext cx="34575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완벽한 왼쪽 위 전략은 없었다. A와 Max Sharpe는 높은 수익을 기록했지만 MDD가 약 −35%였고, B는 수익과 낙폭의 중간에 위치했다.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가장 중요한 비교는 C와 Min Volatility다. C는 변동성이 0.76%p 높았지만 누적수익률은 39.68%p 높고 MDD는 1.96%p 얕았다. ‘일별 흔들림’을 최소화한 전략이 ‘실제 최대 손실’까지 최소화한 것은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따라서 변동성과 MDD를 분리해 봐야 한다. 이 결과를 바탕으로, 다음 단계에서는 현실적 중간안인 B의 비용과 편익을 계산했다.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46D9B2-440F-4F4B-B3AE-F584E4E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458200"/>
            <a:ext cx="3457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0">
            <a:solidFill>
              <a:srgbClr val="FCE9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5554A-25C0-4E53-B46A-E42F990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8524875"/>
            <a:ext cx="3267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핵심  변동성 최소화 ≠ 손실 최소화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DC475E-D945-46B2-9D2E-F7507799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3447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C5A22E-153B-4FD0-9C2D-70F0152C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0590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04. 결과 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B653E-8570-4995-A156-4A3EFC7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그다음 Strategy B가 무엇을 포기하고 무엇을 얻었는지 계산했다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E4C3EA-6F95-4F3D-868D-A4DF0CD8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63100"/>
            <a:ext cx="414337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3E39F0-8F9D-48CF-B9A0-23363C4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3800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QQQ 비중  100% → 50%</a:t>
            </a:r>
          </a:p>
        </p:txBody>
      </p:sp>
      <p:graphicFrame>
        <p:nvGraphicFramePr>
          <p:cNvPr id="109" name="Chart"/>
          <p:cNvGraphicFramePr/>
          <p:nvPr/>
        </p:nvGraphicFramePr>
        <p:xfrm>
          <a:off xmlns:a="http://schemas.openxmlformats.org/drawingml/2006/main" x="571500" y="10039350"/>
          <a:ext xmlns:a="http://schemas.openxmlformats.org/drawingml/2006/main" cx="3800475" cy="1219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820abc9c28410b"/>
          </a:graphicData>
        </a:graphic>
      </p:graphicFrame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0D3216-E6E4-4B89-8E1D-8F0D09B3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15700"/>
            <a:ext cx="3800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주황 = 포기한 수익  |  청록 = 줄인 위험  |  단위: %p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475C9E-222A-4330-A4C7-D7A011B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601200"/>
            <a:ext cx="54197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먼저 비용을 계산했다.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연율수익률  19.32%→16.59%  (−2.73%p)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누적수익률  441.24%→333.37%  (−107.87%p)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다음으로 편익을 계산했다.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변동성  21.82%→19.37%  (−2.45%p)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MDD  −35.12%→−30.86%  (4.26%p 개선)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Sharpe  0.75→0.70  (−0.05)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B는 수동 전략 중 유일하게 연율수익률 15% 이상을 유지하면서 A보다 변동성과 MDD를 모두 낮췄다. 공짜로 안전해진 전략은 아니지만, 성장 노출을 유지하기 위해 지불한 비용이 명확한 절충안이다. 다음으로 최적화가 더 나은 절충안을 제시했는지 확인했다.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166849-4350-4282-9A48-BB0592AA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3957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E2CDC5-7C9D-44DC-A12A-9004229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05. 결과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D80233-F0D5-4FEE-B585-A84B13E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811000"/>
            <a:ext cx="8296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마지막으로 최적화가 새로운 분산 해법을 제시했는지 검증했다</a:t>
            </a:r>
          </a:p>
        </p:txBody>
      </p:sp>
      <p:graphicFrame>
        <p:nvGraphicFramePr>
          <p:cNvPr id="115" name="Chart"/>
          <p:cNvGraphicFramePr/>
          <p:nvPr/>
        </p:nvGraphicFramePr>
        <p:xfrm>
          <a:off xmlns:a="http://schemas.openxmlformats.org/drawingml/2006/main" x="400050" y="12268200"/>
          <a:ext xmlns:a="http://schemas.openxmlformats.org/drawingml/2006/main" cx="3438525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bd3f33475a415e"/>
          </a:graphicData>
        </a:graphic>
      </p:graphicFrame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F674F0-E97C-405E-BDBE-B0EC42B1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9254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99.00%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C8C775-1F5E-48DF-B6DF-3C07C44C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6492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TLT 55.35%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7BBC33-A048-45F4-B2D0-EF66049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1635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44.50%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F639E2-1097-4D23-B30B-9BC7B0C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287250"/>
            <a:ext cx="6124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Max Sharpe는 QQQ 99.00%로 수렴해 Strategy A와 거의 같은 수익·위험을 기록했다. 새로운 분산 해법보다 2015–2024년의 승자였던 QQQ 집중을 다시 선택한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Min Volatility는 변동성을 10.29%로 낮췄지만 MDD는 −29.20%, 누적수익률은 75.64%였다. 결과 1에서 확인했듯 C가 실제 낙폭과 누적성과에서는 더 나았다.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따라서 최적화는 설정한 지표만 푼다. 같은 기간으로 최적화와 평가를 수행한 in-sample 결과이므로, ‘최적’이라는 이름보다 어떤 위험을 어떤 기간에서 최적화했는지를 먼저 확인해야 한다.</a:t>
            </a:r>
          </a:p>
        </p:txBody>
      </p:sp>
      <p:sp>
        <p:nvSpPr>
          <p:cNvPr id="57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502E115E-FDAE-45C6-A5CB-E767DCED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906500"/>
            <a:ext cx="10696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0C1B3D-7562-4A52-A8C1-FC823B1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49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연구 질문에 대한 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FFB88A-0230-4B7E-84C7-20FE1E8C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44650"/>
            <a:ext cx="624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분산의 가치는 포기한 수익과 실제 낙폭 개선량을 함께 계산할 때 판단할 수 있다. 이 기준에서 B는 성장 노출과 위험 완화 사이의 현실적 절충안이고, C는 변동성 최소화보다 실제 손실을 우선할 때 더 설득력 있는 방어안이었다.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4C3F4E-76E8-4D93-9B8C-AA5A2ACC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58900"/>
            <a:ext cx="19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808F56-F9B5-462F-BB93-7D5C042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039850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최종 판단 원칙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1  최고 수익률보다 감내 가능한 MDD를 먼저 정한다.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2  변동성과 최대낙폭을 서로 다른 위험으로 본다.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3  최적화 결과는 기간 밖 검증 후 사용한다.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9AFF8C-3051-446E-9273-D4BB6E6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35200"/>
            <a:ext cx="98964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한계: 동일 기간 최적화·평가, 비용·세금 미반영, 매일 재조정, 3개 ETF·무위험수익률 3% 고정  |  후속: 롤링·표본외 검증, 거래비용·재조정 주기 반영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6732A4-6D9F-4A30-AEF3-B1712FD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30450"/>
            <a:ext cx="989647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자료: Yahoo Finance via yfinance  |  분석: Python · pandas · NumPy  |  분석 기간: 2015.01.02–2024.12.30</a:t>
            </a:r>
          </a:p>
        </p:txBody>
      </p:sp>
    </p:spTree>
    <p:extLst>
      <p:ext uri="{BB962C8B-B14F-4D97-AF65-F5344CB8AC3E}">
        <p14:creationId xmlns:p14="http://schemas.microsoft.com/office/powerpoint/2010/main" val="708718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2026-07-30T10:36:59.5050000Z</dcterms:created>
  <dcterms:modified xsi:type="dcterms:W3CDTF">2026-07-30T10:36:59.5050000Z</dcterms:modified>
</coreProperties>
</file>