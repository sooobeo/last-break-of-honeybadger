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20f25ddb164b93" /><Relationship Type="http://schemas.openxmlformats.org/officeDocument/2006/relationships/extended-properties" Target="/docProps/app.xml" Id="R17431c3f9a1a4300" /><Relationship Type="http://schemas.openxmlformats.org/officeDocument/2006/relationships/officeDocument" Target="/ppt/presentation.xml" Id="Rd368163f81bc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ce5b7801549c8"/>
  </p:sldMasterIdLst>
  <p:notesMasterIdLst>
    <p:notesMasterId xmlns:r="http://schemas.openxmlformats.org/officeDocument/2006/relationships" r:id="R205adf3d20374059"/>
  </p:notesMasterIdLst>
  <p:sldIdLst>
    <p:sldId xmlns:r="http://schemas.openxmlformats.org/officeDocument/2006/relationships" id="256" r:id="R1c3b7026c9ec4679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3f401149764e3b" /><Relationship Type="http://schemas.openxmlformats.org/officeDocument/2006/relationships/slideMaster" Target="/ppt/slideMasters/slideMaster1.xml" Id="R131ce5b7801549c8" /><Relationship Type="http://schemas.openxmlformats.org/officeDocument/2006/relationships/notesMaster" Target="/ppt/notesMasters/notesMaster1.xml" Id="R205adf3d20374059" /><Relationship Type="http://schemas.openxmlformats.org/officeDocument/2006/relationships/presProps" Target="/ppt/presProps.xml" Id="R9b0c948dd7c04e40" /><Relationship Type="http://schemas.openxmlformats.org/officeDocument/2006/relationships/tableStyles" Target="/ppt/tableStyles.xml" Id="R408d6e15ebb949d3" /><Relationship Type="http://schemas.openxmlformats.org/officeDocument/2006/relationships/slide" Target="/ppt/slides/slide1.xml" Id="R1c3b7026c9ec46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ed3a3914ed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887d51b2d24773" /><Relationship Type="http://schemas.openxmlformats.org/officeDocument/2006/relationships/notesMaster" Target="/ppt/notesMasters/notesMaster1.xml" Id="Rc2f21d6dba854e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price data: C:\Users\Insun\Last-break-of-Honeybadger\etf_price.csv</a:t>
            </a:r>
          </a:p>
          <a:p xmlns:a="http://schemas.openxmlformats.org/drawingml/2006/main">
            <a:r>
              <a:t>- Asset return summary: C:\Users\Insun\Last-break-of-Honeybadger\outputs\week4\week4_return_summary.csv</a:t>
            </a:r>
          </a:p>
          <a:p xmlns:a="http://schemas.openxmlformats.org/drawingml/2006/main">
            <a:r>
              <a:t>- Asset risk summary: C:\Users\Insun\Last-break-of-Honeybadger\outputs\week5\week5_risk_summary.csv</a:t>
            </a:r>
          </a:p>
          <a:p xmlns:a="http://schemas.openxmlformats.org/drawingml/2006/main">
            <a:r>
              <a:t>- Manual strategy summary: C:\Users\Insun\Last-break-of-Honeybadger\outputs\week6\week6_strategy_summary.csv</a:t>
            </a:r>
          </a:p>
          <a:p xmlns:a="http://schemas.openxmlformats.org/drawingml/2006/main">
            <a:r>
              <a:t>- Monte Carlo simulations and optimal portfolios: C:\Users\Insun\Last-break-of-Honeybadger\outputs\week7</a:t>
            </a:r>
          </a:p>
          <a:p xmlns:a="http://schemas.openxmlformats.org/drawingml/2006/main">
            <a:r>
              <a:t>- Final strategy summary and recommendations: C:\Users\Insun\Last-break-of-Honeybadger\outputs\week8</a:t>
            </a:r>
          </a:p>
          <a:p xmlns:a="http://schemas.openxmlformats.org/drawingml/2006/main">
            <a:r>
              <a:t>- Efficient frontier image: C:\Users\Insun\Last-break-of-Honeybadger\outputs\week7\efficient_frontier.png</a:t>
            </a:r>
          </a:p>
          <a:p xmlns:a="http://schemas.openxmlformats.org/drawingml/2006/main">
            <a:r>
              <a:t>- Underlying market-data source recorded by the project: Yahoo Finance via yfinance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678e94f1249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87102f9be94923" /><Relationship Type="http://schemas.openxmlformats.org/officeDocument/2006/relationships/slideLayout" Target="/ppt/slideLayouts/slideLayout1.xml" Id="R20562274ed474f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62274ed474f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c14806ee5423b" /><Relationship Type="http://schemas.openxmlformats.org/officeDocument/2006/relationships/chart" Target="/ppt/slides/charts/chart1.xml" Id="R18df8b4830bc49f6" /><Relationship Type="http://schemas.openxmlformats.org/officeDocument/2006/relationships/chart" Target="/ppt/slides/charts/chart2.xml" Id="R7d8c4953a27d4ca1" /><Relationship Type="http://schemas.openxmlformats.org/officeDocument/2006/relationships/chart" Target="/ppt/slides/charts/chart3.xml" Id="R15a3859a1b2542f4" /><Relationship Type="http://schemas.openxmlformats.org/officeDocument/2006/relationships/image" Target="/ppt/media/image.png" Id="Ref023917d2074b6e" /><Relationship Type="http://schemas.openxmlformats.org/officeDocument/2006/relationships/chart" Target="/ppt/slides/charts/chart4.xml" Id="Rde8fae58dbdc4a23" /><Relationship Type="http://schemas.openxmlformats.org/officeDocument/2006/relationships/notesSlide" Target="/ppt/notesSlides/notesSlide1.xml" Id="R27ccff02fb624909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QQQ</c:v>
          </c:tx>
          <c:spPr>
            <a:ln xmlns:a="http://schemas.openxmlformats.org/drawingml/2006/main" w="28575">
              <a:solidFill>
                <a:srgbClr val="4E79A7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1.0976545584799282</c:v>
              </c:pt>
              <c:pt idx="1">
                <c:v>1.175564906377295</c:v>
              </c:pt>
              <c:pt idx="2">
                <c:v>1.5595461003562154</c:v>
              </c:pt>
              <c:pt idx="3">
                <c:v>1.5575775223302561</c:v>
              </c:pt>
              <c:pt idx="4">
                <c:v>2.16443421192928</c:v>
              </c:pt>
              <c:pt idx="5">
                <c:v>3.212152926903827</c:v>
              </c:pt>
              <c:pt idx="6">
                <c:v>4.0929175920485115</c:v>
              </c:pt>
              <c:pt idx="7">
                <c:v>2.759566635592481</c:v>
              </c:pt>
              <c:pt idx="8">
                <c:v>4.273343659516112</c:v>
              </c:pt>
              <c:pt idx="9">
                <c:v>5.412366806063956</c:v>
              </c:pt>
            </c:numLit>
          </c:val>
        </c:ser>
        <c:ser>
          <c:idx val="1"/>
          <c:order val="1"/>
          <c:tx>
            <c:v>SPY</c:v>
          </c:tx>
          <c:spPr>
            <a:ln xmlns:a="http://schemas.openxmlformats.org/drawingml/2006/main" w="28575">
              <a:solidFill>
                <a:srgbClr val="F28E2B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1.0128851919984285</c:v>
              </c:pt>
              <c:pt idx="1">
                <c:v>1.1344101114777507</c:v>
              </c:pt>
              <c:pt idx="2">
                <c:v>1.3806380843298822</c:v>
              </c:pt>
              <c:pt idx="3">
                <c:v>1.3175569609240392</c:v>
              </c:pt>
              <c:pt idx="4">
                <c:v>1.7289491457318884</c:v>
              </c:pt>
              <c:pt idx="5">
                <c:v>2.045893781767661</c:v>
              </c:pt>
              <c:pt idx="6">
                <c:v>2.633653562417764</c:v>
              </c:pt>
              <c:pt idx="7">
                <c:v>2.1549774829114985</c:v>
              </c:pt>
              <c:pt idx="8">
                <c:v>2.7190597445043685</c:v>
              </c:pt>
              <c:pt idx="9">
                <c:v>3.4081362882546093</c:v>
              </c:pt>
            </c:numLit>
          </c:val>
        </c:ser>
        <c:ser>
          <c:idx val="2"/>
          <c:order val="2"/>
          <c:tx>
            <c:v>TLT</c:v>
          </c:tx>
          <c:spPr>
            <a:ln xmlns:a="http://schemas.openxmlformats.org/drawingml/2006/main" w="28575">
              <a:solidFill>
                <a:srgbClr val="59A14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10"/>
              <c:pt idx="0">
                <c:v>2015</c:v>
              </c:pt>
              <c:pt idx="1">
                <c:v>2016</c:v>
              </c:pt>
              <c:pt idx="2">
                <c:v>2017</c:v>
              </c:pt>
              <c:pt idx="3">
                <c:v>2018</c:v>
              </c:pt>
              <c:pt idx="4">
                <c:v>2019</c:v>
              </c:pt>
              <c:pt idx="5">
                <c:v>2020</c:v>
              </c:pt>
              <c:pt idx="6">
                <c:v>2021</c:v>
              </c:pt>
              <c:pt idx="7">
                <c:v>2022</c:v>
              </c:pt>
              <c:pt idx="8">
                <c:v>2023</c:v>
              </c:pt>
              <c:pt idx="9">
                <c:v>2024</c:v>
              </c:pt>
            </c:numLit>
          </c:cat>
          <c:val>
            <c:numLit>
              <c:formatCode>0.0x</c:formatCode>
              <c:ptCount val="10"/>
              <c:pt idx="0">
                <c:v>0.9713051235163574</c:v>
              </c:pt>
              <c:pt idx="1">
                <c:v>0.9826850526852945</c:v>
              </c:pt>
              <c:pt idx="2">
                <c:v>1.072920775486242</c:v>
              </c:pt>
              <c:pt idx="3">
                <c:v>1.0556265885230751</c:v>
              </c:pt>
              <c:pt idx="4">
                <c:v>1.2046640938485125</c:v>
              </c:pt>
              <c:pt idx="5">
                <c:v>1.4233381684599133</c:v>
              </c:pt>
              <c:pt idx="6">
                <c:v>1.3578768722275263</c:v>
              </c:pt>
              <c:pt idx="7">
                <c:v>0.9337505431274322</c:v>
              </c:pt>
              <c:pt idx="8">
                <c:v>0.9595961224222461</c:v>
              </c:pt>
              <c:pt idx="9">
                <c:v>0.8870675140472273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.0x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MDD</c:v>
          </c:tx>
          <c:spPr>
            <a:solidFill xmlns:a="http://schemas.openxmlformats.org/drawingml/2006/main">
              <a:srgbClr val="4E79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79A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28E2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9A14F"/>
              </a:solidFill>
            </c:spPr>
          </c:dPt>
          <c:cat>
            <c:strLit>
              <c:ptCount val="3"/>
              <c:pt idx="0">
                <c:v>QQQ</c:v>
              </c:pt>
              <c:pt idx="1">
                <c:v>SPY</c:v>
              </c:pt>
              <c:pt idx="2">
                <c:v>TLT</c:v>
              </c:pt>
            </c:strLit>
          </c:cat>
          <c:val>
            <c:numLit>
              <c:formatCode>0.0</c:formatCode>
              <c:ptCount val="3"/>
              <c:pt idx="0">
                <c:v>35.12</c:v>
              </c:pt>
              <c:pt idx="1">
                <c:v>33.72</c:v>
              </c:pt>
              <c:pt idx="2">
                <c:v>48.35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marker"/>
        <c:varyColors val="1"/>
        <c:ser>
          <c:idx val="0"/>
          <c:order val="0"/>
          <c:tx>
            <c:v>Strategy A</c:v>
          </c:tx>
          <c:spPr>
            <a:solidFill xmlns:a="http://schemas.openxmlformats.org/drawingml/2006/main">
              <a:srgbClr val="4E79A7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21.82</c:v>
              </c:pt>
            </c:numLit>
          </c:xVal>
          <c:yVal>
            <c:numLit>
              <c:formatCode>0</c:formatCode>
              <c:ptCount val="1"/>
              <c:pt idx="0">
                <c:v>19.32</c:v>
              </c:pt>
            </c:numLit>
          </c:yVal>
        </c:ser>
        <c:ser>
          <c:idx val="1"/>
          <c:order val="1"/>
          <c:tx>
            <c:v>Strategy B</c:v>
          </c:tx>
          <c:spPr>
            <a:solidFill xmlns:a="http://schemas.openxmlformats.org/drawingml/2006/main">
              <a:srgbClr val="F28E2B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19.37</c:v>
              </c:pt>
            </c:numLit>
          </c:xVal>
          <c:yVal>
            <c:numLit>
              <c:formatCode>0</c:formatCode>
              <c:ptCount val="1"/>
              <c:pt idx="0">
                <c:v>16.59</c:v>
              </c:pt>
            </c:numLit>
          </c:yVal>
        </c:ser>
        <c:ser>
          <c:idx val="2"/>
          <c:order val="2"/>
          <c:tx>
            <c:v>Strategy C</c:v>
          </c:tx>
          <c:spPr>
            <a:solidFill xmlns:a="http://schemas.openxmlformats.org/drawingml/2006/main">
              <a:srgbClr val="59A14F"/>
            </a:solidFill>
          </c:spPr>
          <c:marker>
            <c:symbol val="circle"/>
            <c:size val="11"/>
          </c:marker>
          <c:xVal>
            <c:numLit>
              <c:formatCode>General</c:formatCode>
              <c:ptCount val="1"/>
              <c:pt idx="0">
                <c:v>11.05</c:v>
              </c:pt>
            </c:numLit>
          </c:xVal>
          <c:yVal>
            <c:numLit>
              <c:formatCode>0</c:formatCode>
              <c:ptCount val="1"/>
              <c:pt idx="0">
                <c:v>8.3</c:v>
              </c:pt>
            </c:numLit>
          </c:yVal>
        </c:ser>
        <c:ser>
          <c:idx val="3"/>
          <c:order val="3"/>
          <c:tx>
            <c:v>Max Sharpe</c:v>
          </c:tx>
          <c:spPr>
            <a:solidFill xmlns:a="http://schemas.openxmlformats.org/drawingml/2006/main">
              <a:srgbClr val="E15759"/>
            </a:solidFill>
          </c:spPr>
          <c:marker>
            <c:symbol val="diamond"/>
            <c:size val="11"/>
          </c:marker>
          <c:xVal>
            <c:numLit>
              <c:formatCode>General</c:formatCode>
              <c:ptCount val="1"/>
              <c:pt idx="0">
                <c:v>21.6</c:v>
              </c:pt>
            </c:numLit>
          </c:xVal>
          <c:yVal>
            <c:numLit>
              <c:formatCode>0</c:formatCode>
              <c:ptCount val="1"/>
              <c:pt idx="0">
                <c:v>19.14</c:v>
              </c:pt>
            </c:numLit>
          </c:yVal>
        </c:ser>
        <c:ser>
          <c:idx val="4"/>
          <c:order val="4"/>
          <c:tx>
            <c:v>Min Volatility</c:v>
          </c:tx>
          <c:spPr>
            <a:solidFill xmlns:a="http://schemas.openxmlformats.org/drawingml/2006/main">
              <a:srgbClr val="8F6AAE"/>
            </a:solidFill>
          </c:spPr>
          <c:marker>
            <c:symbol val="diamond"/>
            <c:size val="11"/>
          </c:marker>
          <c:xVal>
            <c:numLit>
              <c:formatCode>General</c:formatCode>
              <c:ptCount val="1"/>
              <c:pt idx="0">
                <c:v>10.29</c:v>
              </c:pt>
            </c:numLit>
          </c:xVal>
          <c:yVal>
            <c:numLit>
              <c:formatCode>0</c:formatCode>
              <c:ptCount val="1"/>
              <c:pt idx="0">
                <c:v>6.18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22"/>
          <c:min val="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24"/>
          <c:min val="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  <c:majorUnit val="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r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SPY</c:v>
          </c:tx>
          <c:spPr>
            <a:solidFill xmlns:a="http://schemas.openxmlformats.org/drawingml/2006/main">
              <a:srgbClr val="4E79A7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0.0007</c:v>
              </c:pt>
              <c:pt idx="1">
                <c:v>0.445</c:v>
              </c:pt>
            </c:numLit>
          </c:val>
        </c:ser>
        <c:ser>
          <c:idx val="1"/>
          <c:order val="1"/>
          <c:tx>
            <c:v>QQQ</c:v>
          </c:tx>
          <c:spPr>
            <a:solidFill xmlns:a="http://schemas.openxmlformats.org/drawingml/2006/main">
              <a:srgbClr val="F28E2B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0.99</c:v>
              </c:pt>
              <c:pt idx="1">
                <c:v>0.0014</c:v>
              </c:pt>
            </c:numLit>
          </c:val>
        </c:ser>
        <c:ser>
          <c:idx val="2"/>
          <c:order val="2"/>
          <c:tx>
            <c:v>TLT</c:v>
          </c:tx>
          <c:spPr>
            <a:solidFill xmlns:a="http://schemas.openxmlformats.org/drawingml/2006/main">
              <a:srgbClr val="59A14F"/>
            </a:solidFill>
          </c:spPr>
          <c:cat>
            <c:strLit>
              <c:ptCount val="2"/>
              <c:pt idx="0">
                <c:v>Max Sharpe</c:v>
              </c:pt>
              <c:pt idx="1">
                <c:v>Min Volatility</c:v>
              </c:pt>
            </c:strLit>
          </c:cat>
          <c:val>
            <c:numLit>
              <c:formatCode>0%</c:formatCode>
              <c:ptCount val="2"/>
              <c:pt idx="0">
                <c:v>0.0093</c:v>
              </c:pt>
              <c:pt idx="1">
                <c:v>0.5535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F293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8DEE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0B42ABF-3047-4C65-B1D0-587AC348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F0D3C-4205-47AE-8AA7-93C7509F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0696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42088217-ADEC-464B-BC6F-90B2EA9F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벌꿀오소리의 마지막 브레이크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3F6C6337-D140-40B1-ABA5-CBC0418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239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SPY·QQQ·TLT를 활용한 ETF 포트폴리오의 수익-위험 분석 및 최적화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E7CCF-6D31-4E51-AB59-04A218C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6" name="research-question-header">
            <a:extLst xmlns:a="http://schemas.openxmlformats.org/drawingml/2006/main">
              <a:ext uri="{FF2B5EF4-FFF2-40B4-BE49-F238E27FC236}">
                <a16:creationId xmlns:a16="http://schemas.microsoft.com/office/drawing/2014/main" id="{6657DEE6-FB2C-4113-B904-8538F4E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66700"/>
            <a:ext cx="2457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QQQ에 집중해 얻은 추가 수익은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더 큰 변동성과 낙폭을 감수할 만큼 컸는가?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AD589-F2D5-41C2-A791-F467347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연구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01A49-3FB9-4924-971F-527A517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557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8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가장 많이 오른 자산에 집중하는 것이 정말 최선인가?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D4717-8ABD-41EB-BE38-F1C6F276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수익률뿐 아니라 변동성, 최대낙폭(MDD), Sharpe Ratio를 함께 비교해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집중과 분산 사이의 교환관계를 확인했다.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9EF4F-32DC-4FB7-BE10-0A4AC575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데이터와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EC4A8-BE30-420C-9C6F-FAB16CA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3724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SPY · QQQ · TLT  |  2015.01.02-2024.12.30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2,515거래일  |  연율화 252일  |  무위험수익률 3%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Monte Carlo 10,000회  |  공매도 없음  |  비중 합 100%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F2933"/>
                </a:solidFill>
                <a:latin typeface="Noto Sans KR"/>
                <a:ea typeface="Noto Sans KR"/>
                <a:cs typeface="Noto Sans KR"/>
              </a:rPr>
              <a:t>개별 ETF → 위험 측정 → 전략 비교 → 최적화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8F969-70B5-4A97-92E0-062F61C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989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09A2C-045F-42BB-83D8-88E6DF3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28975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82BDE-8A8B-4BBA-8231-0DFA3510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08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01. QQQ는 가장 많이 올랐고, TLT는 가장 깊게 하락했다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A3C38-EFC5-4E79-B31D-1AC46AEB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성장배수 (2015년 초 $1 기준)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400050" y="3857625"/>
          <a:ext xmlns:a="http://schemas.openxmlformats.org/drawingml/2006/main" cx="6191250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df8b4830bc49f6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BBE40-53A0-4785-B4C7-E82690C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최대낙폭 크기 (%)</a:t>
            </a:r>
          </a:p>
        </p:txBody>
      </p:sp>
      <p:graphicFrame>
        <p:nvGraphicFramePr>
          <p:cNvPr id="67" name="Chart"/>
          <p:cNvGraphicFramePr/>
          <p:nvPr/>
        </p:nvGraphicFramePr>
        <p:xfrm>
          <a:off xmlns:a="http://schemas.openxmlformats.org/drawingml/2006/main" x="6858000" y="3857625"/>
          <a:ext xmlns:a="http://schemas.openxmlformats.org/drawingml/2006/main" cx="3438525" cy="1866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8c4953a27d4ca1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712A3-07EB-4BFA-A5DA-9CF1A60E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9896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QQQ 누적수익률 441.24% · TLT 누적수익률 -11.29%, MDD -48.35%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10C801-792B-40B1-9EE9-820A8F6E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4D889-661D-4E23-BF68-68B8D02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02. 분산은 수익을 낮췄지만 집중 위험과 낙폭도 줄였다</a:t>
            </a:r>
          </a:p>
        </p:txBody>
      </p:sp>
      <p:graphicFrame>
        <p:nvGraphicFramePr>
          <p:cNvPr id="71" name=""/>
          <p:cNvGraphicFramePr/>
          <p:nvPr/>
        </p:nvGraphicFramePr>
        <p:xfrm>
          <a:off xmlns:a="http://schemas.openxmlformats.org/drawingml/2006/main" x="400050" y="6581775"/>
          <a:ext xmlns:a="http://schemas.openxmlformats.org/drawingml/2006/main" cx="9896475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1813"/>
                <a:gridCol w="2827564"/>
                <a:gridCol w="1615751"/>
                <a:gridCol w="1615751"/>
                <a:gridCol w="1413782"/>
                <a:gridCol w="1211813"/>
              </a:tblGrid>
              <a:tr h="3452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성향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전략 구성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누적수익률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변동성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MDD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Sharpe</a:t>
                      </a:r>
                    </a:p>
                  </a:txBody>
                  <a:tcPr marL="57150" marR="57150" marT="57150" marB="57150" anchor="ctr">
                    <a:solidFill>
                      <a:srgbClr val="D9E2EC"/>
                    </a:solidFill>
                  </a:tcPr>
                </a:tc>
              </a:tr>
              <a:tr h="3452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공격형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 · QQQ 100%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441.24%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21.82%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-35.12%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0.75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</a:tr>
              <a:tr h="3452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균형형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B · SPY 50% + QQQ 50%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333.37%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19.37%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-30.86%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0.70</a:t>
                      </a:r>
                    </a:p>
                  </a:txBody>
                  <a:tcPr marL="57150" marR="57150" marT="57150" marB="57150" anchor="ctr">
                    <a:solidFill>
                      <a:srgbClr val="E5F2F1"/>
                    </a:solidFill>
                  </a:tcPr>
                </a:tc>
              </a:tr>
              <a:tr h="34528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안정형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 · SPY 60% + TLT 40%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115.32%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11.05%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-27.24%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0.48</a:t>
                      </a:r>
                    </a:p>
                  </a:txBody>
                  <a:tcPr marL="57150" marR="5715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64102-3B84-4C3F-8C7F-E44918C5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3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1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연율화 위험-수익 지도  (x: 변동성, y: 수익률)</a:t>
            </a:r>
          </a:p>
        </p:txBody>
      </p:sp>
      <p:graphicFrame>
        <p:nvGraphicFramePr>
          <p:cNvPr id="73" name="Chart"/>
          <p:cNvGraphicFramePr/>
          <p:nvPr/>
        </p:nvGraphicFramePr>
        <p:xfrm>
          <a:off xmlns:a="http://schemas.openxmlformats.org/drawingml/2006/main" x="400050" y="8410575"/>
          <a:ext xmlns:a="http://schemas.openxmlformats.org/drawingml/2006/main" cx="60007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a3859a1b2542f4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48E2C-BADA-4705-829A-58CB62AD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572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15759"/>
                </a:solidFill>
                <a:latin typeface="Noto Sans KR"/>
                <a:ea typeface="Noto Sans KR"/>
                <a:cs typeface="Noto Sans KR"/>
              </a:rPr>
              <a:t>A ≈ Max Sharpe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1D6F3-55E8-4E7F-8008-E296E3DD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324850"/>
            <a:ext cx="3629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6698F7-3371-43A4-9B3E-B44CEBA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467725"/>
            <a:ext cx="3629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Strategy A → Strategy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160F0-2B72-4748-93C3-414D487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9535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덜 벌고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F58A3-23D5-4A08-A97E-98BAA0FF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8963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441% → 333%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97759-D57E-4C36-A6B3-1A61F051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401175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덜 흔들리고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13CBAD-C15A-489C-93A1-86AA86C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3440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7F8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A7F80"/>
                </a:solidFill>
                <a:latin typeface="Noto Sans KR"/>
                <a:ea typeface="Noto Sans KR"/>
                <a:cs typeface="Noto Sans KR"/>
              </a:rPr>
              <a:t>21.82% → 19.37%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87EEDB-EF9E-4D9F-B5FB-CC10282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848850"/>
            <a:ext cx="1190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덜 떨어졌다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17D63-FBF8-40BB-AFFF-3858D7CB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791700"/>
            <a:ext cx="2581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7F8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A7F80"/>
                </a:solidFill>
                <a:latin typeface="Noto Sans KR"/>
                <a:ea typeface="Noto Sans KR"/>
                <a:cs typeface="Noto Sans KR"/>
              </a:rPr>
              <a:t>-35.12% → -30.86%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861DF0-DAEF-497B-94A4-469D8C9D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239375"/>
            <a:ext cx="3629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Sharpe는 0.75에서 0.70으로 0.05 낮아졌다.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541BF-387D-47F7-9EF1-797F08B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8013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E2B"/>
          </a:solidFill>
          <a:ln xmlns:a="http://schemas.openxmlformats.org/drawingml/2006/main" w="0">
            <a:solidFill>
              <a:srgbClr val="F28E2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71D11D-1BA1-4731-9ACB-FBC53338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2A43"/>
                </a:solidFill>
                <a:latin typeface="Noto Sans KR"/>
                <a:ea typeface="Noto Sans KR"/>
                <a:cs typeface="Noto Sans KR"/>
              </a:rPr>
              <a:t>03. 과거 데이터의 최대 Sharpe는 QQQ 99%로 수렴했다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23917d2074b6e"/>
          <a:stretch xmlns:a="http://schemas.openxmlformats.org/drawingml/2006/main"/>
        </p:blipFill>
        <p:spPr>
          <a:xfrm xmlns:a="http://schemas.openxmlformats.org/drawingml/2006/main">
            <a:off x="1450008" y="11172825"/>
            <a:ext cx="2453034" cy="18097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BF11D-BEC4-4509-ABA4-F9F0E04E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302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10,000개 포트폴리오의 Efficient Frontier</a:t>
            </a:r>
          </a:p>
        </p:txBody>
      </p:sp>
      <p:graphicFrame>
        <p:nvGraphicFramePr>
          <p:cNvPr id="88" name="Chart"/>
          <p:cNvGraphicFramePr/>
          <p:nvPr/>
        </p:nvGraphicFramePr>
        <p:xfrm>
          <a:off xmlns:a="http://schemas.openxmlformats.org/drawingml/2006/main" x="5191125" y="11172825"/>
          <a:ext xmlns:a="http://schemas.openxmlformats.org/drawingml/2006/main" cx="51054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8fae58dbdc4a23"/>
          </a:graphicData>
        </a:graphic>
      </p:graphicFrame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8B99FD-5D47-4FAF-8B42-9D79FD9B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096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QQQ 99.0%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97AD68-8581-4313-9ED8-F731BBAF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7538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TLT 55.4%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7B39DB-4F63-4AD8-B83D-CB0B191F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401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SPY 44.5%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83BF8D-4CF0-45C8-8FD6-48923EE8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3030200"/>
            <a:ext cx="5105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최적화는 새로운 분산 조합보다 분석 기간 동안 우수했던 QQQ의 성과를 재확인했다.</a:t>
            </a:r>
          </a:p>
        </p:txBody>
      </p:sp>
      <p:sp>
        <p:nvSpPr>
          <p:cNvPr id="44" name="conclusion-band">
            <a:extLst xmlns:a="http://schemas.openxmlformats.org/drawingml/2006/main">
              <a:ext uri="{FF2B5EF4-FFF2-40B4-BE49-F238E27FC236}">
                <a16:creationId xmlns:a16="http://schemas.microsoft.com/office/drawing/2014/main" id="{57B78AD8-C89C-48CE-BCC8-4F061FB2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477875"/>
            <a:ext cx="106965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9D0A98-EB38-4D64-A776-0739678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588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28E2B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C76F62-EA7F-4790-B8BA-4A845D8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82700"/>
            <a:ext cx="6429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공격적인 투자를 멈추는 것이 아니라,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집중으로 얻는 추가 수익과 감수할 하락폭을 함께 확인해야 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AD0277-B688-490A-999F-2AA94FA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9695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581"/>
          </a:solidFill>
          <a:ln xmlns:a="http://schemas.openxmlformats.org/drawingml/2006/main" w="0">
            <a:solidFill>
              <a:srgbClr val="48658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FA390C-C2D7-4BE3-B218-EEA8897D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39800"/>
            <a:ext cx="2905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- 동일 기간으로 최적화·평가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- 거래비용·세금 미반영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- 매일 고정 비중 재조정 가정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D9E2EC"/>
                </a:solidFill>
                <a:latin typeface="Noto Sans KR"/>
                <a:ea typeface="Noto Sans KR"/>
                <a:cs typeface="Noto Sans KR"/>
              </a:rPr>
              <a:t>- 3개 ETF, 무위험수익률 3% 고정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6BF8A2-94FF-413C-9CF6-8D50AF8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30425"/>
            <a:ext cx="9896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52606D"/>
                </a:solidFill>
                <a:latin typeface="Noto Sans KR"/>
                <a:ea typeface="Noto Sans KR"/>
                <a:cs typeface="Noto Sans KR"/>
              </a:rPr>
              <a:t>자료: Yahoo Finance via yfinance  |  분석: Python, pandas, NumPy  |  분석 기간: 2015.01.02-2024.12.30</a:t>
            </a:r>
          </a:p>
        </p:txBody>
      </p:sp>
    </p:spTree>
    <p:extLst>
      <p:ext uri="{BB962C8B-B14F-4D97-AF65-F5344CB8AC3E}">
        <p14:creationId xmlns:p14="http://schemas.microsoft.com/office/powerpoint/2010/main" val="20843938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2026-07-30T09:56:34.4040000Z</dcterms:created>
  <dcterms:modified xsi:type="dcterms:W3CDTF">2026-07-30T09:56:34.4040000Z</dcterms:modified>
</coreProperties>
</file>