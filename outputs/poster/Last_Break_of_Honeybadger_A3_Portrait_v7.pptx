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2f9d9b5ed24914" /><Relationship Type="http://schemas.openxmlformats.org/officeDocument/2006/relationships/extended-properties" Target="/docProps/app.xml" Id="R025fcd91ae7b4c58" /><Relationship Type="http://schemas.openxmlformats.org/officeDocument/2006/relationships/officeDocument" Target="/ppt/presentation.xml" Id="Rba012353fe8a4b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176236cf4143e6"/>
  </p:sldMasterIdLst>
  <p:notesMasterIdLst>
    <p:notesMasterId xmlns:r="http://schemas.openxmlformats.org/officeDocument/2006/relationships" r:id="Rac44cfb1fcf84765"/>
  </p:notesMasterIdLst>
  <p:sldIdLst>
    <p:sldId xmlns:r="http://schemas.openxmlformats.org/officeDocument/2006/relationships" id="256" r:id="R760cc9d356214c70"/>
  </p:sldIdLst>
  <p:sldSz cx="10696575" cy="15116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fdf007dba7456d" /><Relationship Type="http://schemas.openxmlformats.org/officeDocument/2006/relationships/slideMaster" Target="/ppt/slideMasters/slideMaster1.xml" Id="R7d176236cf4143e6" /><Relationship Type="http://schemas.openxmlformats.org/officeDocument/2006/relationships/notesMaster" Target="/ppt/notesMasters/notesMaster1.xml" Id="Rac44cfb1fcf84765" /><Relationship Type="http://schemas.openxmlformats.org/officeDocument/2006/relationships/presProps" Target="/ppt/presProps.xml" Id="R5197e909e0a7470a" /><Relationship Type="http://schemas.openxmlformats.org/officeDocument/2006/relationships/tableStyles" Target="/ppt/tableStyles.xml" Id="R23909eefc57f4081" /><Relationship Type="http://schemas.openxmlformats.org/officeDocument/2006/relationships/slide" Target="/ppt/slides/slide1.xml" Id="R760cc9d356214c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a72bf54f6b4f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9ab4a2d9044608" /><Relationship Type="http://schemas.openxmlformats.org/officeDocument/2006/relationships/notesMaster" Target="/ppt/notesMasters/notesMaster1.xml" Id="Rc96496cad90b4a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price data: C:\Users\Insun\Last-break-of-Honeybadger\etf_price.csv</a:t>
            </a:r>
          </a:p>
          <a:p xmlns:a="http://schemas.openxmlformats.org/drawingml/2006/main">
            <a:r>
              <a:t>- Asset return summary: C:\Users\Insun\Last-break-of-Honeybadger\outputs\week4\week4_return_summary.csv</a:t>
            </a:r>
          </a:p>
          <a:p xmlns:a="http://schemas.openxmlformats.org/drawingml/2006/main">
            <a:r>
              <a:t>- Asset risk summary: C:\Users\Insun\Last-break-of-Honeybadger\outputs\week5\week5_risk_summary.csv</a:t>
            </a:r>
          </a:p>
          <a:p xmlns:a="http://schemas.openxmlformats.org/drawingml/2006/main">
            <a:r>
              <a:t>- Manual strategy summary: C:\Users\Insun\Last-break-of-Honeybadger\outputs\week6\week6_strategy_summary.csv</a:t>
            </a:r>
          </a:p>
          <a:p xmlns:a="http://schemas.openxmlformats.org/drawingml/2006/main">
            <a:r>
              <a:t>- Monte Carlo simulations and optimal portfolios: C:\Users\Insun\Last-break-of-Honeybadger\outputs\week7</a:t>
            </a:r>
          </a:p>
          <a:p xmlns:a="http://schemas.openxmlformats.org/drawingml/2006/main">
            <a:r>
              <a:t>- Final strategy summary and recommendations: C:\Users\Insun\Last-break-of-Honeybadger\outputs\week8</a:t>
            </a:r>
          </a:p>
          <a:p xmlns:a="http://schemas.openxmlformats.org/drawingml/2006/main">
            <a:r>
              <a:t>- Efficient frontier image: C:\Users\Insun\Last-break-of-Honeybadger\outputs\week7\efficient_frontier.png</a:t>
            </a:r>
          </a:p>
          <a:p xmlns:a="http://schemas.openxmlformats.org/drawingml/2006/main">
            <a:r>
              <a:t>- Underlying market-data source recorded by the project: Yahoo Finance via yfinance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c37d6cf36848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0b7ec03c1944d4" /><Relationship Type="http://schemas.openxmlformats.org/officeDocument/2006/relationships/slideLayout" Target="/ppt/slideLayouts/slideLayout1.xml" Id="Reafb6ad4e4b34b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fb6ad4e4b34b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9a50f07e840fe" /><Relationship Type="http://schemas.openxmlformats.org/officeDocument/2006/relationships/chart" Target="/ppt/slides/charts/chart1.xml" Id="R770ae7bd40c34b9b" /><Relationship Type="http://schemas.openxmlformats.org/officeDocument/2006/relationships/image" Target="/ppt/media/image.png" Id="R5c3fb01b469d4e20" /><Relationship Type="http://schemas.openxmlformats.org/officeDocument/2006/relationships/chart" Target="/ppt/slides/charts/chart2.xml" Id="Rb5da41f54e41477d" /><Relationship Type="http://schemas.openxmlformats.org/officeDocument/2006/relationships/chart" Target="/ppt/slides/charts/chart3.xml" Id="R4894c8f984f44fca" /><Relationship Type="http://schemas.openxmlformats.org/officeDocument/2006/relationships/notesSlide" Target="/ppt/notesSlides/notesSlide1.xml" Id="Rb1a08fc69259416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SPY</c:v>
          </c:tx>
          <c:spPr>
            <a:solidFill xmlns:a="http://schemas.openxmlformats.org/drawingml/2006/main">
              <a:srgbClr val="4E79A7"/>
            </a:solidFill>
          </c:spPr>
          <c:cat>
            <c:strLit>
              <c:ptCount val="3"/>
              <c:pt idx="0">
                <c:v>A 공격형</c:v>
              </c:pt>
              <c:pt idx="1">
                <c:v>B 균형형</c:v>
              </c:pt>
              <c:pt idx="2">
                <c:v>C 방어형</c:v>
              </c:pt>
            </c:strLit>
          </c:cat>
          <c:val>
            <c:numLit>
              <c:formatCode>0%</c:formatCode>
              <c:ptCount val="3"/>
              <c:pt idx="0">
                <c:v>0</c:v>
              </c:pt>
              <c:pt idx="1">
                <c:v>0.5</c:v>
              </c:pt>
              <c:pt idx="2">
                <c:v>0.6</c:v>
              </c:pt>
            </c:numLit>
          </c:val>
        </c:ser>
        <c:ser>
          <c:idx val="1"/>
          <c:order val="1"/>
          <c:tx>
            <c:v>QQQ</c:v>
          </c:tx>
          <c:spPr>
            <a:solidFill xmlns:a="http://schemas.openxmlformats.org/drawingml/2006/main">
              <a:srgbClr val="F28E2B"/>
            </a:solidFill>
          </c:spPr>
          <c:cat>
            <c:strLit>
              <c:ptCount val="3"/>
              <c:pt idx="0">
                <c:v>A 공격형</c:v>
              </c:pt>
              <c:pt idx="1">
                <c:v>B 균형형</c:v>
              </c:pt>
              <c:pt idx="2">
                <c:v>C 방어형</c:v>
              </c:pt>
            </c:strLit>
          </c:cat>
          <c:val>
            <c:numLit>
              <c:formatCode>0%</c:formatCode>
              <c:ptCount val="3"/>
              <c:pt idx="0">
                <c:v>1</c:v>
              </c:pt>
              <c:pt idx="1">
                <c:v>0.5</c:v>
              </c:pt>
              <c:pt idx="2">
                <c:v>0</c:v>
              </c:pt>
            </c:numLit>
          </c:val>
        </c:ser>
        <c:ser>
          <c:idx val="2"/>
          <c:order val="2"/>
          <c:tx>
            <c:v>TLT</c:v>
          </c:tx>
          <c:spPr>
            <a:solidFill xmlns:a="http://schemas.openxmlformats.org/drawingml/2006/main">
              <a:srgbClr val="59A14F"/>
            </a:solidFill>
          </c:spPr>
          <c:cat>
            <c:strLit>
              <c:ptCount val="3"/>
              <c:pt idx="0">
                <c:v>A 공격형</c:v>
              </c:pt>
              <c:pt idx="1">
                <c:v>B 균형형</c:v>
              </c:pt>
              <c:pt idx="2">
                <c:v>C 방어형</c:v>
              </c:pt>
            </c:strLit>
          </c:cat>
          <c:val>
            <c:numLit>
              <c:formatCode>0%</c:formatCode>
              <c:ptCount val="3"/>
              <c:pt idx="0">
                <c:v>0</c:v>
              </c:pt>
              <c:pt idx="1">
                <c:v>0</c:v>
              </c:pt>
              <c:pt idx="2">
                <c:v>0.4</c:v>
              </c:pt>
            </c:numLit>
          </c:val>
        </c:ser>
        <c:gapWidth val="3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F293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</c:v>
          </c:tx>
          <c:spPr>
            <a:ln xmlns:a="http://schemas.openxmlformats.org/drawingml/2006/main" w="28575">
              <a:solidFill>
                <a:srgbClr val="4E79A7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0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</c:numLit>
          </c:cat>
          <c:val>
            <c:numLit>
              <c:formatCode>0.0x</c:formatCode>
              <c:ptCount val="10"/>
              <c:pt idx="0">
                <c:v>1.0976545584799269</c:v>
              </c:pt>
              <c:pt idx="1">
                <c:v>1.1755649063772933</c:v>
              </c:pt>
              <c:pt idx="2">
                <c:v>1.5595461003562123</c:v>
              </c:pt>
              <c:pt idx="3">
                <c:v>1.557577522330257</c:v>
              </c:pt>
              <c:pt idx="4">
                <c:v>2.1644342119292808</c:v>
              </c:pt>
              <c:pt idx="5">
                <c:v>3.212152926903828</c:v>
              </c:pt>
              <c:pt idx="6">
                <c:v>4.092917592048505</c:v>
              </c:pt>
              <c:pt idx="7">
                <c:v>2.759566635592476</c:v>
              </c:pt>
              <c:pt idx="8">
                <c:v>4.273343659516108</c:v>
              </c:pt>
              <c:pt idx="9">
                <c:v>5.412366806063944</c:v>
              </c:pt>
            </c:numLit>
          </c:val>
        </c:ser>
        <c:ser>
          <c:idx val="1"/>
          <c:order val="1"/>
          <c:tx>
            <c:v>B</c:v>
          </c:tx>
          <c:spPr>
            <a:ln xmlns:a="http://schemas.openxmlformats.org/drawingml/2006/main" w="28575">
              <a:solidFill>
                <a:srgbClr val="F28E2B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0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</c:numLit>
          </c:cat>
          <c:val>
            <c:numLit>
              <c:formatCode>0.0x</c:formatCode>
              <c:ptCount val="10"/>
              <c:pt idx="0">
                <c:v>1.0549118905126869</c:v>
              </c:pt>
              <c:pt idx="1">
                <c:v>1.1560260125037047</c:v>
              </c:pt>
              <c:pt idx="2">
                <c:v>1.4696827679281936</c:v>
              </c:pt>
              <c:pt idx="3">
                <c:v>1.4361865008225054</c:v>
              </c:pt>
              <c:pt idx="4">
                <c:v>1.9402420153398396</c:v>
              </c:pt>
              <c:pt idx="5">
                <c:v>2.5764504308440843</c:v>
              </c:pt>
              <c:pt idx="6">
                <c:v>3.30331025644264</c:v>
              </c:pt>
              <c:pt idx="7">
                <c:v>2.4570689410397253</c:v>
              </c:pt>
              <c:pt idx="8">
                <c:v>3.4372214428265413</c:v>
              </c:pt>
              <c:pt idx="9">
                <c:v>4.333732724390345</c:v>
              </c:pt>
            </c:numLit>
          </c:val>
        </c:ser>
        <c:ser>
          <c:idx val="2"/>
          <c:order val="2"/>
          <c:tx>
            <c:v>C</c:v>
          </c:tx>
          <c:spPr>
            <a:ln xmlns:a="http://schemas.openxmlformats.org/drawingml/2006/main" w="28575">
              <a:solidFill>
                <a:srgbClr val="59A14F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0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</c:numLit>
          </c:cat>
          <c:val>
            <c:numLit>
              <c:formatCode>0.0x</c:formatCode>
              <c:ptCount val="10"/>
              <c:pt idx="0">
                <c:v>1.0039379734100184</c:v>
              </c:pt>
              <c:pt idx="1">
                <c:v>1.0856032522833863</c:v>
              </c:pt>
              <c:pt idx="2">
                <c:v>1.2678574199340644</c:v>
              </c:pt>
              <c:pt idx="3">
                <c:v>1.2316170137222069</c:v>
              </c:pt>
              <c:pt idx="4">
                <c:v>1.536356724421615</c:v>
              </c:pt>
              <c:pt idx="5">
                <c:v>1.8673597763633236</c:v>
              </c:pt>
              <c:pt idx="6">
                <c:v>2.1429000697481295</c:v>
              </c:pt>
              <c:pt idx="7">
                <c:v>1.6536554946444264</c:v>
              </c:pt>
              <c:pt idx="8">
                <c:v>1.9323954845131919</c:v>
              </c:pt>
              <c:pt idx="9">
                <c:v>2.1531515726402635</c:v>
              </c:pt>
            </c:numLit>
          </c:val>
        </c:ser>
        <c:ser>
          <c:idx val="3"/>
          <c:order val="3"/>
          <c:tx>
            <c:v>Max</c:v>
          </c:tx>
          <c:spPr>
            <a:ln xmlns:a="http://schemas.openxmlformats.org/drawingml/2006/main" w="19050">
              <a:solidFill>
                <a:srgbClr val="E15759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0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</c:numLit>
          </c:cat>
          <c:val>
            <c:numLit>
              <c:formatCode>0.0x</c:formatCode>
              <c:ptCount val="10"/>
              <c:pt idx="0">
                <c:v>1.0967227253517982</c:v>
              </c:pt>
              <c:pt idx="1">
                <c:v>1.1742825369743675</c:v>
              </c:pt>
              <c:pt idx="2">
                <c:v>1.555101717552569</c:v>
              </c:pt>
              <c:pt idx="3">
                <c:v>1.553379124504204</c:v>
              </c:pt>
              <c:pt idx="4">
                <c:v>2.155127479643861</c:v>
              </c:pt>
              <c:pt idx="5">
                <c:v>3.194641292819172</c:v>
              </c:pt>
              <c:pt idx="6">
                <c:v>4.060636324998238</c:v>
              </c:pt>
              <c:pt idx="7">
                <c:v>2.7403750671387077</c:v>
              </c:pt>
              <c:pt idx="8">
                <c:v>4.227973611307348</c:v>
              </c:pt>
              <c:pt idx="9">
                <c:v>5.340523339995162</c:v>
              </c:pt>
            </c:numLit>
          </c:val>
        </c:ser>
        <c:ser>
          <c:idx val="4"/>
          <c:order val="4"/>
          <c:tx>
            <c:v>Min Vol.</c:v>
          </c:tx>
          <c:spPr>
            <a:ln xmlns:a="http://schemas.openxmlformats.org/drawingml/2006/main" w="19050">
              <a:solidFill>
                <a:srgbClr val="8F6AA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0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</c:numLit>
          </c:cat>
          <c:val>
            <c:numLit>
              <c:formatCode>0.0x</c:formatCode>
              <c:ptCount val="10"/>
              <c:pt idx="0">
                <c:v>0.997851514217089</c:v>
              </c:pt>
              <c:pt idx="1">
                <c:v>1.0624200255327427</c:v>
              </c:pt>
              <c:pt idx="2">
                <c:v>1.220504235282538</c:v>
              </c:pt>
              <c:pt idx="3">
                <c:v>1.1914702252783709</c:v>
              </c:pt>
              <c:pt idx="4">
                <c:v>1.4550940455409895</c:v>
              </c:pt>
              <c:pt idx="5">
                <c:v>1.7700867878400974</c:v>
              </c:pt>
              <c:pt idx="6">
                <c:v>1.9402140779020567</c:v>
              </c:pt>
              <c:pt idx="7">
                <c:v>1.4578969288477726</c:v>
              </c:pt>
              <c:pt idx="8">
                <c:v>1.6515635413443317</c:v>
              </c:pt>
              <c:pt idx="9">
                <c:v>1.7564471953108136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2606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최대 손실 폭</c:v>
          </c:tx>
          <c:spPr>
            <a:solidFill xmlns:a="http://schemas.openxmlformats.org/drawingml/2006/main">
              <a:srgbClr val="4E79A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E79A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28E2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9A14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1575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8F6AAE"/>
              </a:solidFill>
            </c:spPr>
          </c:dPt>
          <c:cat>
            <c:strLit>
              <c:ptCount val="5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Max</c:v>
              </c:pt>
              <c:pt idx="4">
                <c:v>Min Vol.</c:v>
              </c:pt>
            </c:strLit>
          </c:cat>
          <c:val>
            <c:numLit>
              <c:formatCode>0</c:formatCode>
              <c:ptCount val="5"/>
              <c:pt idx="0">
                <c:v>35.12</c:v>
              </c:pt>
              <c:pt idx="1">
                <c:v>30.86</c:v>
              </c:pt>
              <c:pt idx="2">
                <c:v>27.24</c:v>
              </c:pt>
              <c:pt idx="3">
                <c:v>35.07</c:v>
              </c:pt>
              <c:pt idx="4">
                <c:v>29.2</c:v>
              </c:pt>
            </c:numLit>
          </c:val>
        </c:ser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1F293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108F88DA-F374-4B52-8D0C-0842E729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965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4C6E9-F0A6-4630-AB19-E2A5B76F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43025"/>
            <a:ext cx="10696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2FFA4F92-3E67-4AFA-BBF4-7E343C03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681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벌꿀오소리의 마지막 브레이크</a:t>
            </a:r>
          </a:p>
        </p:txBody>
      </p:sp>
      <p:sp>
        <p:nvSpPr>
          <p:cNvPr id="4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CC83CD2A-7E3F-4324-A26A-FB7B5AB7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66775"/>
            <a:ext cx="685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공격적으로 투자하기 전, SPY·QQQ·TLT로 확인한 수익–위험의 마지막 점검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23885-94AC-40BD-BA8D-D02D6BE5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6" name="research-question-header">
            <a:extLst xmlns:a="http://schemas.openxmlformats.org/drawingml/2006/main">
              <a:ext uri="{FF2B5EF4-FFF2-40B4-BE49-F238E27FC236}">
                <a16:creationId xmlns:a16="http://schemas.microsoft.com/office/drawing/2014/main" id="{AE5A9691-F118-4F48-A204-19A14148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28600"/>
            <a:ext cx="24669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연구 질문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높은 성장성을 지키면서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어디까지 위험을 줄일 수 있을까?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D140C-5868-4393-95DE-607F1924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FA6D3-0CCB-42E1-A43B-EBD0CC6F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50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01. 문제 제기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E0D55-F90A-4AEC-B291-2318828F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571625"/>
            <a:ext cx="8220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가장 많이 오른 자산이 모두에게 좋은 전략은 아니다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D61E9-DFE9-454F-A83B-8E49BCEA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28825"/>
            <a:ext cx="6610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분석 기간에는 기술주 중심의 QQQ가 가장 크게 성장했다. 하지만 수익이 높았던 만큼 가격도 크게 흔들렸고, 하락기에는 자산가치가 고점에서 약 3분의 1 줄어들었다. 그래서 이 프로젝트는 단순히 ‘무엇이 가장 많이 올랐는가’를 고르는 대신, 분산 수준을 높일 때 성장성이 얼마나 남고 실제 손실이 얼마나 줄어드는지를 확인했다.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6EF71-0607-4FCE-93D5-3603BA3C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00250"/>
            <a:ext cx="3000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D5"/>
          </a:solidFill>
          <a:ln xmlns:a="http://schemas.openxmlformats.org/drawingml/2006/main" w="9525">
            <a:solidFill>
              <a:srgbClr val="F28E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69BDF-B69B-4684-8913-978604E2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43125"/>
            <a:ext cx="264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1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쉽게 말하면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• 몰아서 투자한 경우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• 주식 안에서 나눈 경우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• 주식과 채권으로 나눈 경우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세 단계의 결과를 비교했다.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84C2E-3959-40D7-8F33-29051FA5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EC625-3F77-46FB-9D92-10DF5DD8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150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02. 전략 설계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5F667-3D85-4F73-B3A4-C7D0F578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14675"/>
            <a:ext cx="8220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세 비율은 정답이 아니라 분산 효과를 비교하기 위한 실험 조건이다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2B3DB-E10C-495B-8E04-01F2EA12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9896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SPY = 미국 주식시장 전반  |  QQQ = 기술·성장주 중심  |  TLT = 미국 장기국채</a:t>
            </a:r>
          </a:p>
        </p:txBody>
      </p:sp>
      <p:graphicFrame>
        <p:nvGraphicFramePr>
          <p:cNvPr id="69" name="Chart"/>
          <p:cNvGraphicFramePr/>
          <p:nvPr/>
        </p:nvGraphicFramePr>
        <p:xfrm>
          <a:off xmlns:a="http://schemas.openxmlformats.org/drawingml/2006/main" x="400050" y="3819525"/>
          <a:ext xmlns:a="http://schemas.openxmlformats.org/drawingml/2006/main" cx="3886200" cy="1933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0ae7bd40c34b9b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19E9A-AFE1-4DC8-AF4F-1BB96B8E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577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QQQ 100%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553C1-6559-4DB8-A6A0-64E95C7C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86275"/>
            <a:ext cx="104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SPY 50%</a:t>
            </a:r>
          </a:p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QQQ 50%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98B8C4-EB3B-4605-9671-C02C73FB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76750"/>
            <a:ext cx="104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SPY 60%</a:t>
            </a:r>
          </a:p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TLT 40%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85D2F6-B189-4FC3-80DC-BDEDA3D1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7667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D60C5-CE73-4EAB-983F-B6D0B888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48100"/>
            <a:ext cx="561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왜 이 비율을 선택했는가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A730A-F95F-492D-821B-9D8FC6A6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10050"/>
            <a:ext cx="57245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8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A · QQQ 100%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QQQ만 보유해 성장 가능성과 집중 위험의 상한선을 확인했다.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B · SPY 50% + QQQ 50%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QQQ의 성장 노출을 절반 남기고 나머지를 시장 전체로 넓혔다. 50:50은 채권 없이 ‘집중만 줄인 효과’를 보기 위한 단순한 중간점이다.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C · SPY 60% + TLT 40%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주식을 과반으로 유지하면서 채권을 40% 넣었다. 자산군을 나누는 것이 큰 하락을 실제로 막는지 확인하기 위한 방어 조건이다.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2662E7-2F78-4E64-BBA6-A6CC11E0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38825"/>
            <a:ext cx="9896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1"/>
          </a:solidFill>
          <a:ln xmlns:a="http://schemas.openxmlformats.org/drawingml/2006/main" w="0">
            <a:solidFill>
              <a:srgbClr val="E5F2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76BC2C-6465-4D7C-8166-41E95C07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15025"/>
            <a:ext cx="95535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따라서 A→B→C는 ‘집중 투자 → 주식 내 분산 → 주식·채권 분산’으로 위험 완화 단계를 하나씩 높인 비교 실험이다.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525416-46C7-4AF8-A198-3D9694EB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FA68EA-2581-43C3-914B-267E7832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50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03. 최적화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B099B1-DDA1-4030-9172-3EEF3647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381750"/>
            <a:ext cx="8220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직접 만든 세 전략을 넘어 10,000개 조합에서 최적점을 찾았다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D11D38-2455-421D-A317-95C4D2D4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19900"/>
            <a:ext cx="37719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67311F-63C2-49EE-A303-5138762D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199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C9657A-4C29-4C8E-AC2E-4A82620A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9135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Monte Carlo 시뮬레이션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BDA400-53D9-4DCC-9868-731A4770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81875"/>
            <a:ext cx="3429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1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1  세 ETF의 비중을 무작위로 정하되 합계는 항상 100%가 되게 했다. 빌려서 투자하는 공매도는 제외했다.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2  서로 다른 포트폴리오 10,000개를 만들고, 각 조합이 얼마나 벌고 얼마나 흔들리는지 계산했다.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3  위험 한 단위당 수익이 가장 좋은 점을 Max Sharpe, 가장 덜 흔들리는 점을 Min Volatility로 선택했다.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이렇게 사람이 만든 A·B·C와 데이터가 고른 최적점을 같은 기준으로 비교했다.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fb01b469d4e20"/>
          <a:stretch xmlns:a="http://schemas.openxmlformats.org/drawingml/2006/main"/>
        </p:blipFill>
        <p:spPr>
          <a:xfrm xmlns:a="http://schemas.openxmlformats.org/drawingml/2006/main">
            <a:off x="5940955" y="6819900"/>
            <a:ext cx="2853266" cy="2105025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F45230-8740-4213-A0FB-FDC0D234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943975"/>
            <a:ext cx="5200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점 하나 = 포트폴리오 한 조합  |  오른쪽 위 빨간 별 = Max Sharpe  |  왼쪽 주황 X = Min Volatility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C90F0D-5D99-40B8-8FBB-04BC25BB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53550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2B06A7-C4F7-4A04-88D8-B81AA45C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24975"/>
            <a:ext cx="150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04. 결과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E5C3EF-8827-4CC0-A33B-5E7A6C77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9324975"/>
            <a:ext cx="8220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A는 성장 프리미엄에 집중했고, B는 일부 수익으로 집중위험을 낮췄다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1A1752-5814-4559-ADE1-59C4512F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63125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시간이 지나며 1달러가 얼마나 불어났는가</a:t>
            </a:r>
          </a:p>
        </p:txBody>
      </p:sp>
      <p:graphicFrame>
        <p:nvGraphicFramePr>
          <p:cNvPr id="91" name="Chart"/>
          <p:cNvGraphicFramePr/>
          <p:nvPr/>
        </p:nvGraphicFramePr>
        <p:xfrm>
          <a:off xmlns:a="http://schemas.openxmlformats.org/drawingml/2006/main" x="400050" y="10001250"/>
          <a:ext xmlns:a="http://schemas.openxmlformats.org/drawingml/2006/main" cx="4914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da41f54e41477d"/>
          </a:graphicData>
        </a:graphic>
      </p:graphicFrame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6BDA68-3F4E-4F6E-A2FF-F6F65145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9763125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고점에서 가장 크게 떨어진 폭  |  짧을수록 방어적</a:t>
            </a:r>
          </a:p>
        </p:txBody>
      </p:sp>
      <p:graphicFrame>
        <p:nvGraphicFramePr>
          <p:cNvPr id="93" name="Chart"/>
          <p:cNvGraphicFramePr/>
          <p:nvPr/>
        </p:nvGraphicFramePr>
        <p:xfrm>
          <a:off xmlns:a="http://schemas.openxmlformats.org/drawingml/2006/main" x="5572125" y="10001250"/>
          <a:ext xmlns:a="http://schemas.openxmlformats.org/drawingml/2006/main" cx="47244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94c8f984f44fca"/>
          </a:graphicData>
        </a:graphic>
      </p:graphicFrame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012709-AE92-49E3-9321-981D00D2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25300"/>
            <a:ext cx="98964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5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A는 QQQ의 성장 프리미엄에 집중한 전략이다. 높은 기대수익은 기술·성장주 한 방향에 몰린 위험을 감수한 대가다. Max Sharpe가 A와 거의 같았다는 것은 분석 기간에는 이 집중의 보상이 위험보다 강하게 평가됐다는 뜻이다.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B는 성장 프리미엄의 일부를 기회비용으로 지불해 QQQ 집중위험을 낮췄다. 그러나 SPY와 QQQ가 모두 주식이므로 시장 전체가 하락하는 위험까지 없애는 보험은 아니다. B가 산 것은 ‘완전한 안전’이 아니라 집중위험의 일부 완화다.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따라서 B가 A보다 항상 우월한 것은 아니다. 손실 제약이 없다면 이 기간의 위험조정성과는 A가 더 좋았고, 큰 낙폭을 제한해야 할 때만 B의 낮은 절대위험이 경제적 가치를 가진다. C와 Min Volatility는 더 강한 방어를 위해 성장의 기회비용을 더 크게 지불한 경우다.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9E6BDC-2D75-47C8-B966-658CA68A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54025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78412F-D1AE-45CA-831D-9206F7EB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25450"/>
            <a:ext cx="150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05. 결론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8836FE-8B80-46B7-8A2B-FC998679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3125450"/>
            <a:ext cx="8220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손실 감내도는 참는 힘이 아니라 강제매도를 피할 수 있는 ‘손실예산’이다</a:t>
            </a:r>
          </a:p>
        </p:txBody>
      </p:sp>
      <p:sp>
        <p:nvSpPr>
          <p:cNvPr id="46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E1BF1733-B56D-470B-B3C3-15F0C30D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63600"/>
            <a:ext cx="98964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8ED53C-66D9-451E-A146-9D4DB44A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2552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손실예산으로 선택하면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B352E4-74F0-4D41-85F8-A5ECD346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49375"/>
            <a:ext cx="6305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• 역사적 최대낙폭 약 35% 이상을 감당할 손실예산이면 A를 선택할 수 있다.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• 손실예산이 약 31~35%라면 A는 한도를 넘고 B만 범위 안에 들어온다.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• 손실예산이 약 31%보다 작다면 A와 B 모두 기준을 충족하지 못한다.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• 이 기준은 과거 표본에 근거한 출발점이며 미래 손실을 보장하지 않는다.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F2FCE1-8A7B-44E1-8ED9-2B00AC68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3725525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581"/>
          </a:solidFill>
          <a:ln xmlns:a="http://schemas.openxmlformats.org/drawingml/2006/main" w="0">
            <a:solidFill>
              <a:srgbClr val="48658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89A3B9-E5D2-42EE-B792-DCFCE47D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3763625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3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손실예산이란?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고점 대비 손실이 발생해도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생활자금·부채상환·투자기간 때문에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강제매도하지 않고 전략을 유지할 수 있는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최대 손실 한도다.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E59589-A9AE-4AB8-BEC4-E7D60906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30425"/>
            <a:ext cx="98964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한계: 동일 기간 최적화·평가, 비용·세금 미반영, 매일 재조정, 3개 ETF·무위험수익률 3% 고정  |  후속: 롤링·표본외 검증, 거래비용·재조정 주기 반영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A6117D-0F31-411F-B9C9-FE48E93A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82825"/>
            <a:ext cx="98964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52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자료: Yahoo Finance via yfinance  |  분석: Python · pandas · NumPy  |  분석 기간: 2015.01.02–2024.12.30</a:t>
            </a:r>
          </a:p>
        </p:txBody>
      </p:sp>
    </p:spTree>
    <p:extLst>
      <p:ext uri="{BB962C8B-B14F-4D97-AF65-F5344CB8AC3E}">
        <p14:creationId xmlns:p14="http://schemas.microsoft.com/office/powerpoint/2010/main" val="18629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2026-07-30T23:35:31.1060000Z</dcterms:created>
  <dcterms:modified xsi:type="dcterms:W3CDTF">2026-07-30T23:35:31.1060000Z</dcterms:modified>
</coreProperties>
</file>