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6355bab0ed4019" /><Relationship Type="http://schemas.openxmlformats.org/officeDocument/2006/relationships/extended-properties" Target="/docProps/app.xml" Id="R60bdf56a1a184d9c" /><Relationship Type="http://schemas.openxmlformats.org/officeDocument/2006/relationships/officeDocument" Target="/ppt/presentation.xml" Id="Re8b052ec98e84f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37459088c24274"/>
  </p:sldMasterIdLst>
  <p:notesMasterIdLst>
    <p:notesMasterId xmlns:r="http://schemas.openxmlformats.org/officeDocument/2006/relationships" r:id="R2502e1f2e18a42bf"/>
  </p:notesMasterIdLst>
  <p:sldIdLst>
    <p:sldId xmlns:r="http://schemas.openxmlformats.org/officeDocument/2006/relationships" id="256" r:id="R8ce1f38ccbde4607"/>
  </p:sldIdLst>
  <p:sldSz cx="10696575" cy="151161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1f347748954215" /><Relationship Type="http://schemas.openxmlformats.org/officeDocument/2006/relationships/slideMaster" Target="/ppt/slideMasters/slideMaster1.xml" Id="R1337459088c24274" /><Relationship Type="http://schemas.openxmlformats.org/officeDocument/2006/relationships/notesMaster" Target="/ppt/notesMasters/notesMaster1.xml" Id="R2502e1f2e18a42bf" /><Relationship Type="http://schemas.openxmlformats.org/officeDocument/2006/relationships/presProps" Target="/ppt/presProps.xml" Id="R88ef4b6571cb4597" /><Relationship Type="http://schemas.openxmlformats.org/officeDocument/2006/relationships/tableStyles" Target="/ppt/tableStyles.xml" Id="R728cc8b373ef4c26" /><Relationship Type="http://schemas.openxmlformats.org/officeDocument/2006/relationships/slide" Target="/ppt/slides/slide1.xml" Id="R8ce1f38ccbde46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f99f3ef2a642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68b8f1e61c4842" /><Relationship Type="http://schemas.openxmlformats.org/officeDocument/2006/relationships/notesMaster" Target="/ppt/notesMasters/notesMaster1.xml" Id="Rc75e1f544bdd4d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price data: C:\Users\Insun\Last-break-of-Honeybadger\etf_price.csv</a:t>
            </a:r>
          </a:p>
          <a:p xmlns:a="http://schemas.openxmlformats.org/drawingml/2006/main">
            <a:r>
              <a:t>- Asset return summary: C:\Users\Insun\Last-break-of-Honeybadger\outputs\week4\week4_return_summary.csv</a:t>
            </a:r>
          </a:p>
          <a:p xmlns:a="http://schemas.openxmlformats.org/drawingml/2006/main">
            <a:r>
              <a:t>- Asset risk summary: C:\Users\Insun\Last-break-of-Honeybadger\outputs\week5\week5_risk_summary.csv</a:t>
            </a:r>
          </a:p>
          <a:p xmlns:a="http://schemas.openxmlformats.org/drawingml/2006/main">
            <a:r>
              <a:t>- Manual strategy summary: C:\Users\Insun\Last-break-of-Honeybadger\outputs\week6\week6_strategy_summary.csv</a:t>
            </a:r>
          </a:p>
          <a:p xmlns:a="http://schemas.openxmlformats.org/drawingml/2006/main">
            <a:r>
              <a:t>- Monte Carlo simulations and optimal portfolios: C:\Users\Insun\Last-break-of-Honeybadger\outputs\week7</a:t>
            </a:r>
          </a:p>
          <a:p xmlns:a="http://schemas.openxmlformats.org/drawingml/2006/main">
            <a:r>
              <a:t>- Final strategy summary and recommendations: C:\Users\Insun\Last-break-of-Honeybadger\outputs\week8</a:t>
            </a:r>
          </a:p>
          <a:p xmlns:a="http://schemas.openxmlformats.org/drawingml/2006/main">
            <a:r>
              <a:t>- Efficient frontier image: C:\Users\Insun\Last-break-of-Honeybadger\outputs\week7\efficient_frontier.png</a:t>
            </a:r>
          </a:p>
          <a:p xmlns:a="http://schemas.openxmlformats.org/drawingml/2006/main">
            <a:r>
              <a:t>- Underlying market-data source recorded by the project: Yahoo Finance via yfinance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e8cd2ea4ce4c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9f5e32373e4961" /><Relationship Type="http://schemas.openxmlformats.org/officeDocument/2006/relationships/slideLayout" Target="/ppt/slideLayouts/slideLayout1.xml" Id="R5cbd9bd8ea1445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bd9bd8ea1445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887bb2ea74249" /><Relationship Type="http://schemas.openxmlformats.org/officeDocument/2006/relationships/chart" Target="/ppt/slides/charts/chart1.xml" Id="Re9d96e260438477e" /><Relationship Type="http://schemas.openxmlformats.org/officeDocument/2006/relationships/image" Target="/ppt/media/image.png" Id="Rbcb34995033e4090" /><Relationship Type="http://schemas.openxmlformats.org/officeDocument/2006/relationships/chart" Target="/ppt/slides/charts/chart2.xml" Id="Rfe3cb60ec59e44e4" /><Relationship Type="http://schemas.openxmlformats.org/officeDocument/2006/relationships/chart" Target="/ppt/slides/charts/chart3.xml" Id="Re020668df43f466f" /><Relationship Type="http://schemas.openxmlformats.org/officeDocument/2006/relationships/notesSlide" Target="/ppt/notesSlides/notesSlide1.xml" Id="Rc74141a07c9b477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SPY</c:v>
          </c:tx>
          <c:spPr>
            <a:solidFill xmlns:a="http://schemas.openxmlformats.org/drawingml/2006/main">
              <a:srgbClr val="4E79A7"/>
            </a:solidFill>
          </c:spPr>
          <c:cat>
            <c:strLit>
              <c:ptCount val="3"/>
              <c:pt idx="0">
                <c:v>A 공격형</c:v>
              </c:pt>
              <c:pt idx="1">
                <c:v>B 균형형</c:v>
              </c:pt>
              <c:pt idx="2">
                <c:v>C 방어형</c:v>
              </c:pt>
            </c:strLit>
          </c:cat>
          <c:val>
            <c:numLit>
              <c:formatCode>0%</c:formatCode>
              <c:ptCount val="3"/>
              <c:pt idx="0">
                <c:v>0</c:v>
              </c:pt>
              <c:pt idx="1">
                <c:v>0.5</c:v>
              </c:pt>
              <c:pt idx="2">
                <c:v>0.6</c:v>
              </c:pt>
            </c:numLit>
          </c:val>
        </c:ser>
        <c:ser>
          <c:idx val="1"/>
          <c:order val="1"/>
          <c:tx>
            <c:v>QQQ</c:v>
          </c:tx>
          <c:spPr>
            <a:solidFill xmlns:a="http://schemas.openxmlformats.org/drawingml/2006/main">
              <a:srgbClr val="F28E2B"/>
            </a:solidFill>
          </c:spPr>
          <c:cat>
            <c:strLit>
              <c:ptCount val="3"/>
              <c:pt idx="0">
                <c:v>A 공격형</c:v>
              </c:pt>
              <c:pt idx="1">
                <c:v>B 균형형</c:v>
              </c:pt>
              <c:pt idx="2">
                <c:v>C 방어형</c:v>
              </c:pt>
            </c:strLit>
          </c:cat>
          <c:val>
            <c:numLit>
              <c:formatCode>0%</c:formatCode>
              <c:ptCount val="3"/>
              <c:pt idx="0">
                <c:v>1</c:v>
              </c:pt>
              <c:pt idx="1">
                <c:v>0.5</c:v>
              </c:pt>
              <c:pt idx="2">
                <c:v>0</c:v>
              </c:pt>
            </c:numLit>
          </c:val>
        </c:ser>
        <c:ser>
          <c:idx val="2"/>
          <c:order val="2"/>
          <c:tx>
            <c:v>TLT</c:v>
          </c:tx>
          <c:spPr>
            <a:solidFill xmlns:a="http://schemas.openxmlformats.org/drawingml/2006/main">
              <a:srgbClr val="59A14F"/>
            </a:solidFill>
          </c:spPr>
          <c:cat>
            <c:strLit>
              <c:ptCount val="3"/>
              <c:pt idx="0">
                <c:v>A 공격형</c:v>
              </c:pt>
              <c:pt idx="1">
                <c:v>B 균형형</c:v>
              </c:pt>
              <c:pt idx="2">
                <c:v>C 방어형</c:v>
              </c:pt>
            </c:strLit>
          </c:cat>
          <c:val>
            <c:numLit>
              <c:formatCode>0%</c:formatCode>
              <c:ptCount val="3"/>
              <c:pt idx="0">
                <c:v>0</c:v>
              </c:pt>
              <c:pt idx="1">
                <c:v>0</c:v>
              </c:pt>
              <c:pt idx="2">
                <c:v>0.4</c:v>
              </c:pt>
            </c:numLit>
          </c:val>
        </c:ser>
        <c:gapWidth val="38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F2933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2606D"/>
                </a:solidFill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5260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A</c:v>
          </c:tx>
          <c:spPr>
            <a:ln xmlns:a="http://schemas.openxmlformats.org/drawingml/2006/main" w="28575">
              <a:solidFill>
                <a:srgbClr val="4E79A7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0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</c:numLit>
          </c:cat>
          <c:val>
            <c:numLit>
              <c:formatCode>0.0x</c:formatCode>
              <c:ptCount val="10"/>
              <c:pt idx="0">
                <c:v>1.0976545584799269</c:v>
              </c:pt>
              <c:pt idx="1">
                <c:v>1.1755649063772933</c:v>
              </c:pt>
              <c:pt idx="2">
                <c:v>1.5595461003562123</c:v>
              </c:pt>
              <c:pt idx="3">
                <c:v>1.557577522330257</c:v>
              </c:pt>
              <c:pt idx="4">
                <c:v>2.1644342119292808</c:v>
              </c:pt>
              <c:pt idx="5">
                <c:v>3.212152926903828</c:v>
              </c:pt>
              <c:pt idx="6">
                <c:v>4.092917592048505</c:v>
              </c:pt>
              <c:pt idx="7">
                <c:v>2.759566635592476</c:v>
              </c:pt>
              <c:pt idx="8">
                <c:v>4.273343659516108</c:v>
              </c:pt>
              <c:pt idx="9">
                <c:v>5.412366806063944</c:v>
              </c:pt>
            </c:numLit>
          </c:val>
        </c:ser>
        <c:ser>
          <c:idx val="1"/>
          <c:order val="1"/>
          <c:tx>
            <c:v>B</c:v>
          </c:tx>
          <c:spPr>
            <a:ln xmlns:a="http://schemas.openxmlformats.org/drawingml/2006/main" w="28575">
              <a:solidFill>
                <a:srgbClr val="F28E2B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0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</c:numLit>
          </c:cat>
          <c:val>
            <c:numLit>
              <c:formatCode>0.0x</c:formatCode>
              <c:ptCount val="10"/>
              <c:pt idx="0">
                <c:v>1.0549118905126869</c:v>
              </c:pt>
              <c:pt idx="1">
                <c:v>1.1560260125037047</c:v>
              </c:pt>
              <c:pt idx="2">
                <c:v>1.4696827679281936</c:v>
              </c:pt>
              <c:pt idx="3">
                <c:v>1.4361865008225054</c:v>
              </c:pt>
              <c:pt idx="4">
                <c:v>1.9402420153398396</c:v>
              </c:pt>
              <c:pt idx="5">
                <c:v>2.5764504308440843</c:v>
              </c:pt>
              <c:pt idx="6">
                <c:v>3.30331025644264</c:v>
              </c:pt>
              <c:pt idx="7">
                <c:v>2.4570689410397253</c:v>
              </c:pt>
              <c:pt idx="8">
                <c:v>3.4372214428265413</c:v>
              </c:pt>
              <c:pt idx="9">
                <c:v>4.333732724390345</c:v>
              </c:pt>
            </c:numLit>
          </c:val>
        </c:ser>
        <c:ser>
          <c:idx val="2"/>
          <c:order val="2"/>
          <c:tx>
            <c:v>C</c:v>
          </c:tx>
          <c:spPr>
            <a:ln xmlns:a="http://schemas.openxmlformats.org/drawingml/2006/main" w="28575">
              <a:solidFill>
                <a:srgbClr val="59A14F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0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</c:numLit>
          </c:cat>
          <c:val>
            <c:numLit>
              <c:formatCode>0.0x</c:formatCode>
              <c:ptCount val="10"/>
              <c:pt idx="0">
                <c:v>1.0039379734100184</c:v>
              </c:pt>
              <c:pt idx="1">
                <c:v>1.0856032522833863</c:v>
              </c:pt>
              <c:pt idx="2">
                <c:v>1.2678574199340644</c:v>
              </c:pt>
              <c:pt idx="3">
                <c:v>1.2316170137222069</c:v>
              </c:pt>
              <c:pt idx="4">
                <c:v>1.536356724421615</c:v>
              </c:pt>
              <c:pt idx="5">
                <c:v>1.8673597763633236</c:v>
              </c:pt>
              <c:pt idx="6">
                <c:v>2.1429000697481295</c:v>
              </c:pt>
              <c:pt idx="7">
                <c:v>1.6536554946444264</c:v>
              </c:pt>
              <c:pt idx="8">
                <c:v>1.9323954845131919</c:v>
              </c:pt>
              <c:pt idx="9">
                <c:v>2.1531515726402635</c:v>
              </c:pt>
            </c:numLit>
          </c:val>
        </c:ser>
        <c:ser>
          <c:idx val="3"/>
          <c:order val="3"/>
          <c:tx>
            <c:v>Max</c:v>
          </c:tx>
          <c:spPr>
            <a:ln xmlns:a="http://schemas.openxmlformats.org/drawingml/2006/main" w="19050">
              <a:solidFill>
                <a:srgbClr val="E15759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0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</c:numLit>
          </c:cat>
          <c:val>
            <c:numLit>
              <c:formatCode>0.0x</c:formatCode>
              <c:ptCount val="10"/>
              <c:pt idx="0">
                <c:v>1.0967227253517982</c:v>
              </c:pt>
              <c:pt idx="1">
                <c:v>1.1742825369743675</c:v>
              </c:pt>
              <c:pt idx="2">
                <c:v>1.555101717552569</c:v>
              </c:pt>
              <c:pt idx="3">
                <c:v>1.553379124504204</c:v>
              </c:pt>
              <c:pt idx="4">
                <c:v>2.155127479643861</c:v>
              </c:pt>
              <c:pt idx="5">
                <c:v>3.194641292819172</c:v>
              </c:pt>
              <c:pt idx="6">
                <c:v>4.060636324998238</c:v>
              </c:pt>
              <c:pt idx="7">
                <c:v>2.7403750671387077</c:v>
              </c:pt>
              <c:pt idx="8">
                <c:v>4.227973611307348</c:v>
              </c:pt>
              <c:pt idx="9">
                <c:v>5.340523339995162</c:v>
              </c:pt>
            </c:numLit>
          </c:val>
        </c:ser>
        <c:ser>
          <c:idx val="4"/>
          <c:order val="4"/>
          <c:tx>
            <c:v>Min Vol.</c:v>
          </c:tx>
          <c:spPr>
            <a:ln xmlns:a="http://schemas.openxmlformats.org/drawingml/2006/main" w="19050">
              <a:solidFill>
                <a:srgbClr val="8F6AAE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0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</c:numLit>
          </c:cat>
          <c:val>
            <c:numLit>
              <c:formatCode>0.0x</c:formatCode>
              <c:ptCount val="10"/>
              <c:pt idx="0">
                <c:v>0.997851514217089</c:v>
              </c:pt>
              <c:pt idx="1">
                <c:v>1.0624200255327427</c:v>
              </c:pt>
              <c:pt idx="2">
                <c:v>1.220504235282538</c:v>
              </c:pt>
              <c:pt idx="3">
                <c:v>1.1914702252783709</c:v>
              </c:pt>
              <c:pt idx="4">
                <c:v>1.4550940455409895</c:v>
              </c:pt>
              <c:pt idx="5">
                <c:v>1.7700867878400974</c:v>
              </c:pt>
              <c:pt idx="6">
                <c:v>1.9402140779020567</c:v>
              </c:pt>
              <c:pt idx="7">
                <c:v>1.4578969288477726</c:v>
              </c:pt>
              <c:pt idx="8">
                <c:v>1.6515635413443317</c:v>
              </c:pt>
              <c:pt idx="9">
                <c:v>1.7564471953108136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2606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"/>
          <c:min val="0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5"/>
              </a:solidFill>
              <a:prstDash val="solid"/>
            </a:ln>
          </c:spPr>
        </c:majorGridlines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2606D"/>
                </a:solidFill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75">
              <a:solidFill>
                <a:srgbClr val="5260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최대 손실 폭</c:v>
          </c:tx>
          <c:spPr>
            <a:solidFill xmlns:a="http://schemas.openxmlformats.org/drawingml/2006/main">
              <a:srgbClr val="4E79A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E79A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28E2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59A14F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15759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8F6AAE"/>
              </a:solidFill>
            </c:spPr>
          </c:dPt>
          <c:cat>
            <c:strLit>
              <c:ptCount val="5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Max</c:v>
              </c:pt>
              <c:pt idx="4">
                <c:v>Min Vol.</c:v>
              </c:pt>
            </c:strLit>
          </c:cat>
          <c:val>
            <c:numLit>
              <c:formatCode>0</c:formatCode>
              <c:ptCount val="5"/>
              <c:pt idx="0">
                <c:v>35.12</c:v>
              </c:pt>
              <c:pt idx="1">
                <c:v>30.86</c:v>
              </c:pt>
              <c:pt idx="2">
                <c:v>27.24</c:v>
              </c:pt>
              <c:pt idx="3">
                <c:v>35.07</c:v>
              </c:pt>
              <c:pt idx="4">
                <c:v>29.2</c:v>
              </c:pt>
            </c:numLit>
          </c:val>
        </c:ser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1F2933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52606D"/>
                </a:solidFill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header-band">
            <a:extLst xmlns:a="http://schemas.openxmlformats.org/drawingml/2006/main">
              <a:ext uri="{FF2B5EF4-FFF2-40B4-BE49-F238E27FC236}">
                <a16:creationId xmlns:a16="http://schemas.microsoft.com/office/drawing/2014/main" id="{B12D4EE1-E9CD-4648-B205-BE1BABE7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965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629CE-84B6-44DA-A463-87E4A4E7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43025"/>
            <a:ext cx="10696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47FE545C-5972-486C-B3EC-49B82874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681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벌꿀오소리의 마지막 브레이크</a:t>
            </a:r>
          </a:p>
        </p:txBody>
      </p:sp>
      <p:sp>
        <p:nvSpPr>
          <p:cNvPr id="4" name="poster-subtitle">
            <a:extLst xmlns:a="http://schemas.openxmlformats.org/drawingml/2006/main">
              <a:ext uri="{FF2B5EF4-FFF2-40B4-BE49-F238E27FC236}">
                <a16:creationId xmlns:a16="http://schemas.microsoft.com/office/drawing/2014/main" id="{D14AE929-7C0B-4237-AD41-52FC36DE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866775"/>
            <a:ext cx="685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공격적으로 투자하기 전, SPY·QQQ·TLT로 확인한 수익–위험의 마지막 점검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395A3-A154-455F-B2B7-423CF4B9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6" name="research-question-header">
            <a:extLst xmlns:a="http://schemas.openxmlformats.org/drawingml/2006/main">
              <a:ext uri="{FF2B5EF4-FFF2-40B4-BE49-F238E27FC236}">
                <a16:creationId xmlns:a16="http://schemas.microsoft.com/office/drawing/2014/main" id="{C72B7510-12A7-44C7-87DD-15EF1164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28600"/>
            <a:ext cx="24669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연구 질문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높은 성장성을 지키면서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어디까지 위험을 줄일 수 있을까?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4B6B0-3B8C-4536-81E4-A9A3067B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66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F93FB-4A1C-4CAC-B496-E7C2BDFE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504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01. 문제 제기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D31AF-F9F8-4EE5-AB6D-BACA68F4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571625"/>
            <a:ext cx="8220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가장 많이 오른 자산이 모두에게 좋은 전략은 아니다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887847-74AA-45CA-A9CB-6AFB9078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28825"/>
            <a:ext cx="6610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분석 기간에는 기술주 중심의 QQQ가 가장 크게 성장했다. 하지만 수익이 높았던 만큼 가격도 크게 흔들렸고, 하락기에는 자산가치가 고점에서 약 3분의 1 줄어들었다. 그래서 이 프로젝트는 단순히 ‘무엇이 가장 많이 올랐는가’를 고르는 대신, 분산 수준을 높일 때 성장성이 얼마나 남고 실제 손실이 얼마나 줄어드는지를 확인했다.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CC298-A63A-4357-B8AE-586D8EDF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00250"/>
            <a:ext cx="3000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D5"/>
          </a:solidFill>
          <a:ln xmlns:a="http://schemas.openxmlformats.org/drawingml/2006/main" w="9525">
            <a:solidFill>
              <a:srgbClr val="F28E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CC7CF1-4320-45B4-921F-23CFBAB8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43125"/>
            <a:ext cx="264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1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쉽게 말하면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• 몰아서 투자한 경우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• 주식 안에서 나눈 경우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• 주식과 채권으로 나눈 경우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세 단계의 결과를 비교했다.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15CA32-7B70-4F79-B9BF-4FC2F7ED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66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F3116-49B5-4D75-80CA-9B6C0F86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4675"/>
            <a:ext cx="1504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02. 전략 설계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CAA6A-C675-40D3-BA7A-D1042242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14675"/>
            <a:ext cx="8220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세 비율은 정답이 아니라 분산 효과를 비교하기 위한 실험 조건이다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BDD867-A4DC-49D2-BFA9-73DA4BF7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9896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SPY = 미국 주식시장 전반  |  QQQ = 기술·성장주 중심  |  TLT = 미국 장기국채</a:t>
            </a:r>
          </a:p>
        </p:txBody>
      </p:sp>
      <p:graphicFrame>
        <p:nvGraphicFramePr>
          <p:cNvPr id="69" name="Chart"/>
          <p:cNvGraphicFramePr/>
          <p:nvPr/>
        </p:nvGraphicFramePr>
        <p:xfrm>
          <a:off xmlns:a="http://schemas.openxmlformats.org/drawingml/2006/main" x="400050" y="3819525"/>
          <a:ext xmlns:a="http://schemas.openxmlformats.org/drawingml/2006/main" cx="3886200" cy="1933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d96e260438477e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604951-E0BC-41E3-9720-B8523393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577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QQQ 100%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0BCF5E-1EFA-4A87-8DF0-B1E7C3B5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86275"/>
            <a:ext cx="104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SPY 50%</a:t>
            </a:r>
          </a:p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QQQ 50%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FCE0FA-FA01-4473-898F-A942FAB8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76750"/>
            <a:ext cx="104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SPY 60%</a:t>
            </a:r>
          </a:p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TLT 40%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F13569-9A3A-4E2E-A68E-9FDDBE3A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7667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6B3F67-4CCD-44AA-A2A4-C99EA030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48100"/>
            <a:ext cx="5610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왜 이 비율을 선택했는가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ACF895-F454-4E83-A61E-7B96E822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10050"/>
            <a:ext cx="57245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8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A · QQQ 100%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QQQ만 보유해 성장 가능성과 집중 위험의 상한선을 확인했다.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B · SPY 50% + QQQ 50%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QQQ의 성장 노출을 절반 남기고 나머지를 시장 전체로 넓혔다. 50:50은 채권 없이 ‘집중만 줄인 효과’를 보기 위한 단순한 중간점이다.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C · SPY 60% + TLT 40%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주식을 과반으로 유지하면서 채권을 40% 넣었다. 자산군을 나누는 것이 큰 하락을 실제로 막는지 확인하기 위한 방어 조건이다.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95FF16-8313-47A4-AF0F-871D8027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38825"/>
            <a:ext cx="98964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F1"/>
          </a:solidFill>
          <a:ln xmlns:a="http://schemas.openxmlformats.org/drawingml/2006/main" w="0">
            <a:solidFill>
              <a:srgbClr val="E5F2F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821391-4E3C-415A-A666-9870C5E9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15025"/>
            <a:ext cx="95535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따라서 A→B→C는 ‘집중 투자 → 주식 내 분산 → 주식·채권 분산’으로 위험 완화 단계를 하나씩 높인 비교 실험이다.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2E99C6-662B-4E30-A8B3-6CC625AA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0325"/>
            <a:ext cx="66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2C5A73-761B-4CB6-A77D-B5E90DB8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504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03. 최적화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6E9A87-F030-4184-B1D0-8F4C17B8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381750"/>
            <a:ext cx="8220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직접 만든 세 전략을 넘어 10,000개 조합에서 최적점을 찾았다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64C5E3-0EDB-44D7-9367-148A5FCB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19900"/>
            <a:ext cx="37719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997E93-0D4E-4D3C-B5FC-C3147637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19925"/>
            <a:ext cx="38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1A965A-29B9-4465-A031-A43FFAE7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9135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Monte Carlo 시뮬레이션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677372-4F56-46F9-AD19-38EE1610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81875"/>
            <a:ext cx="3429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1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1  세 ETF의 비중을 무작위로 정하되 합계는 항상 100%가 되게 했다. 빌려서 투자하는 공매도는 제외했다.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2  서로 다른 포트폴리오 10,000개를 만들고, 각 조합이 얼마나 벌고 얼마나 흔들리는지 계산했다.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3  위험 한 단위당 수익이 가장 좋은 점을 Max Sharpe, 가장 덜 흔들리는 점을 Min Volatility로 선택했다.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이렇게 사람이 만든 A·B·C와 데이터가 고른 최적점을 같은 기준으로 비교했다.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34995033e4090"/>
          <a:stretch xmlns:a="http://schemas.openxmlformats.org/drawingml/2006/main"/>
        </p:blipFill>
        <p:spPr>
          <a:xfrm xmlns:a="http://schemas.openxmlformats.org/drawingml/2006/main">
            <a:off x="5940955" y="6819900"/>
            <a:ext cx="2853266" cy="2105025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526BC0-A03C-4515-AF14-B62C5AB8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943975"/>
            <a:ext cx="5200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점 하나 = 포트폴리오 한 조합  |  오른쪽 위 빨간 별 = Max Sharpe  |  왼쪽 주황 X = Min Volatility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76B363-7C99-47C2-9D6B-487ADD0A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353550"/>
            <a:ext cx="66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A505FA-19E0-4DC9-93AF-BB524EDD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324975"/>
            <a:ext cx="1504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04. 결과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BB153A-6209-4193-8D0F-1BF887C7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9324975"/>
            <a:ext cx="8220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성장성은 집중에서, 방어력은 분산에서 나왔지만 완벽한 전략은 없었다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CA65D2-0ECA-4B64-8FDB-8DDF0D25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63125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시간이 지나며 1달러가 얼마나 불어났는가</a:t>
            </a:r>
          </a:p>
        </p:txBody>
      </p:sp>
      <p:graphicFrame>
        <p:nvGraphicFramePr>
          <p:cNvPr id="91" name="Chart"/>
          <p:cNvGraphicFramePr/>
          <p:nvPr/>
        </p:nvGraphicFramePr>
        <p:xfrm>
          <a:off xmlns:a="http://schemas.openxmlformats.org/drawingml/2006/main" x="400050" y="10001250"/>
          <a:ext xmlns:a="http://schemas.openxmlformats.org/drawingml/2006/main" cx="49149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3cb60ec59e44e4"/>
          </a:graphicData>
        </a:graphic>
      </p:graphicFrame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923B34-B8E8-4803-963B-012C2AC2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9763125"/>
            <a:ext cx="472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고점에서 가장 크게 떨어진 폭  |  짧을수록 방어적</a:t>
            </a:r>
          </a:p>
        </p:txBody>
      </p:sp>
      <p:graphicFrame>
        <p:nvGraphicFramePr>
          <p:cNvPr id="93" name="Chart"/>
          <p:cNvGraphicFramePr/>
          <p:nvPr/>
        </p:nvGraphicFramePr>
        <p:xfrm>
          <a:off xmlns:a="http://schemas.openxmlformats.org/drawingml/2006/main" x="5572125" y="10001250"/>
          <a:ext xmlns:a="http://schemas.openxmlformats.org/drawingml/2006/main" cx="47244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20668df43f466f"/>
          </a:graphicData>
        </a:graphic>
      </p:graphicFrame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708EC0-8592-4A72-86A1-CFD8935E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25300"/>
            <a:ext cx="98964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A와 Max Sharpe는 가장 크게 성장했지만, 하락기에는 자산가치가 고점에서 약 3분의 1 줄어드는 구간을 견뎌야 했다. 최적화가 완전히 새로운 답을 찾은 것이 아니라, 이 기간에 강했던 QQQ 집중을 다시 선택한 결과다.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B는 QQQ 비중을 절반으로 줄였는데도 성장 흐름의 상당 부분을 유지했다. 동시에 가격 흔들림과 큰 하락도 완화되어, 성장성과 위험 관리 사이에서 가장 이해하기 쉬운 중간안이 되었다.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C는 수동 전략 중 큰 하락을 가장 잘 막았지만 성장 속도는 낮았다. Min Volatility는 평소 움직임은 가장 잔잔했지만 C보다 큰 하락을 더 잘 막지는 못했다. 따라서 ‘덜 흔들리는 것’과 ‘크게 잃지 않는 것’은 같은 의미가 아니었다.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560604-5179-4EF4-A10A-979EDA12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54025"/>
            <a:ext cx="666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C8BA42-50D4-4F0A-AA3B-AD7BE0BE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25450"/>
            <a:ext cx="1504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05. 결론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BD0968-C10A-444B-B802-7D9EB516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3125450"/>
            <a:ext cx="8220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전략 선택은 최고 수익률이 아니라 감당할 수 있는 손실에서 시작해야 한다</a:t>
            </a:r>
          </a:p>
        </p:txBody>
      </p:sp>
      <p:sp>
        <p:nvSpPr>
          <p:cNvPr id="46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84E8555A-6606-46C4-BBF8-E27A1DC9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63600"/>
            <a:ext cx="98964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7D56FF-E3A4-4051-98D7-C5BDFEB9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72552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이 프로젝트가 보여준 것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F97902-5A6A-4415-82FD-ABCE4AEC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49375"/>
            <a:ext cx="6305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0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• 큰 하락을 감수하고 성장성을 최우선으로 두면 A가 맞다.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• 성장 가능성을 남기면서 집중 위험을 낮추려면 B가 현실적인 절충안이다.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• 평소 흔들림보다 실제 최대 손실이 중요하다면 C가 Min Volatility보다 설득력 있었다.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• 10,000개에서 찾은 최적점도 기간과 판단 기준에 따라 달라지므로 영구적인 정답은 아니다.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9DC53E2-0594-40D3-AEE4-7B24EBAD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3725525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581"/>
          </a:solidFill>
          <a:ln xmlns:a="http://schemas.openxmlformats.org/drawingml/2006/main" w="0">
            <a:solidFill>
              <a:srgbClr val="48658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DDFDFE4-D41C-404F-B628-6D49D4F9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3763625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발표의 최종 메시지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분산은 무조건 안전해지는 기술이 아니다.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어떤 수익을 포기하고 어떤 손실을 줄였는지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함께 설명할 때 비로소 전략이 된다.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1BF2F9-A374-4980-9FED-8B8FE98D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30425"/>
            <a:ext cx="98964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한계: 동일 기간 최적화·평가, 비용·세금 미반영, 매일 재조정, 3개 ETF·무위험수익률 3% 고정  |  후속: 롤링·표본외 검증, 거래비용·재조정 주기 반영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91B3060-7350-43B1-8668-6D52A4FF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82825"/>
            <a:ext cx="989647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0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525" b="0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자료: Yahoo Finance via yfinance  |  분석: Python · pandas · NumPy  |  분석 기간: 2015.01.02–2024.12.30</a:t>
            </a:r>
          </a:p>
        </p:txBody>
      </p:sp>
    </p:spTree>
    <p:extLst>
      <p:ext uri="{BB962C8B-B14F-4D97-AF65-F5344CB8AC3E}">
        <p14:creationId xmlns:p14="http://schemas.microsoft.com/office/powerpoint/2010/main" val="4071459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2026-07-30T10:53:15.2610000Z</dcterms:created>
  <dcterms:modified xsi:type="dcterms:W3CDTF">2026-07-30T10:53:15.2610000Z</dcterms:modified>
</coreProperties>
</file>